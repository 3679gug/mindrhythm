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72" r:id="rId6"/>
    <p:sldId id="273" r:id="rId7"/>
    <p:sldId id="263" r:id="rId8"/>
    <p:sldId id="264" r:id="rId9"/>
    <p:sldId id="275" r:id="rId10"/>
    <p:sldId id="266" r:id="rId11"/>
    <p:sldId id="267" r:id="rId12"/>
    <p:sldId id="268" r:id="rId13"/>
    <p:sldId id="269" r:id="rId14"/>
    <p:sldId id="274" r:id="rId15"/>
    <p:sldId id="26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7B6F"/>
    <a:srgbClr val="C4B1A0"/>
    <a:srgbClr val="E2D6C2"/>
    <a:srgbClr val="00695C"/>
    <a:srgbClr val="2E7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887" autoAdjust="0"/>
  </p:normalViewPr>
  <p:slideViewPr>
    <p:cSldViewPr snapToGrid="0" snapToObjects="1">
      <p:cViewPr varScale="1">
        <p:scale>
          <a:sx n="145" d="100"/>
          <a:sy n="145" d="100"/>
        </p:scale>
        <p:origin x="6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88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69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36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81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256032"/>
            <a:ext cx="4800600" cy="462686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" y="256032"/>
            <a:ext cx="4800600" cy="146304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384048" y="548640"/>
            <a:ext cx="2103120" cy="274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1"/>
          <p:cNvSpPr/>
          <p:nvPr/>
        </p:nvSpPr>
        <p:spPr>
          <a:xfrm>
            <a:off x="384048" y="548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50" b="1" dirty="0" err="1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마인드리듬</a:t>
            </a:r>
            <a:r>
              <a:rPr lang="ko-KR" altLang="en-US" sz="95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950" b="1" dirty="0" err="1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솔루션</a:t>
            </a:r>
            <a:endParaRPr lang="en-US" sz="950" dirty="0"/>
          </a:p>
        </p:txBody>
      </p:sp>
      <p:sp>
        <p:nvSpPr>
          <p:cNvPr id="8" name="Text 2"/>
          <p:cNvSpPr/>
          <p:nvPr/>
        </p:nvSpPr>
        <p:spPr>
          <a:xfrm>
            <a:off x="384048" y="1005840"/>
            <a:ext cx="45118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</a:t>
            </a:r>
            <a:endParaRPr lang="en-US" sz="2200" b="1" dirty="0">
              <a:solidFill>
                <a:srgbClr val="2E7D32"/>
              </a:solidFill>
            </a:endParaRPr>
          </a:p>
        </p:txBody>
      </p:sp>
      <p:sp>
        <p:nvSpPr>
          <p:cNvPr id="9" name="Text 3"/>
          <p:cNvSpPr/>
          <p:nvPr/>
        </p:nvSpPr>
        <p:spPr>
          <a:xfrm>
            <a:off x="374904" y="1472184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설명 가능한 AI </a:t>
            </a:r>
            <a:r>
              <a:rPr lang="en-US" sz="2200" b="1" dirty="0" err="1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기반</a:t>
            </a:r>
            <a:r>
              <a:rPr lang="en-US" sz="2200" b="1" dirty="0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altLang="ko-KR" sz="2400" b="1" dirty="0" err="1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솔루션</a:t>
            </a:r>
            <a:endParaRPr lang="en-US" altLang="ko-KR" sz="2400" dirty="0">
              <a:solidFill>
                <a:srgbClr val="2E7D32"/>
              </a:solidFill>
            </a:endParaRP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Text 4"/>
          <p:cNvSpPr/>
          <p:nvPr/>
        </p:nvSpPr>
        <p:spPr>
          <a:xfrm>
            <a:off x="384048" y="1920240"/>
            <a:ext cx="4343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100" dirty="0">
              <a:solidFill>
                <a:srgbClr val="2E7D32"/>
              </a:solidFill>
            </a:endParaRPr>
          </a:p>
        </p:txBody>
      </p:sp>
      <p:sp>
        <p:nvSpPr>
          <p:cNvPr id="12" name="Shape 6"/>
          <p:cNvSpPr/>
          <p:nvPr/>
        </p:nvSpPr>
        <p:spPr>
          <a:xfrm>
            <a:off x="384048" y="3291840"/>
            <a:ext cx="4160520" cy="27432"/>
          </a:xfrm>
          <a:prstGeom prst="rect">
            <a:avLst/>
          </a:prstGeom>
          <a:solidFill>
            <a:srgbClr val="D5CCBA"/>
          </a:solidFill>
          <a:ln w="12700">
            <a:solidFill>
              <a:srgbClr val="D5CCBA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384048" y="34198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논문(조사-연구-구현) 기반 솔루션 개발</a:t>
            </a:r>
            <a:endParaRPr lang="en-US" sz="1000" dirty="0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46320" y="0"/>
            <a:ext cx="429768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1168"/>
            <a:ext cx="8686800" cy="65836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01168"/>
            <a:ext cx="256032" cy="65836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21792" y="2011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발표 목차</a:t>
            </a:r>
            <a:endParaRPr lang="en-US" sz="220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024128"/>
            <a:ext cx="8686800" cy="841248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024128"/>
            <a:ext cx="868680" cy="841248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228600" y="1024128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</a:t>
            </a:r>
            <a:endParaRPr lang="en-US" sz="20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1207008"/>
            <a:ext cx="402336" cy="40233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737360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전체 구성도</a:t>
            </a:r>
            <a:endParaRPr lang="en-US" sz="1400" dirty="0"/>
          </a:p>
        </p:txBody>
      </p:sp>
      <p:sp>
        <p:nvSpPr>
          <p:cNvPr id="11" name="Text 3"/>
          <p:cNvSpPr/>
          <p:nvPr/>
        </p:nvSpPr>
        <p:spPr>
          <a:xfrm>
            <a:off x="1737360" y="14813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논문-솔루션 매핑 테이블 (연구 → 구현 → 솔루션 흐름)</a:t>
            </a:r>
            <a:endParaRPr lang="en-US" sz="10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11680"/>
            <a:ext cx="8686800" cy="841248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011680"/>
            <a:ext cx="868680" cy="841248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228600" y="2011680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</a:t>
            </a:r>
            <a:endParaRPr lang="en-US" sz="200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7008" y="2194560"/>
            <a:ext cx="402336" cy="402336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737360" y="2103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논문 기반</a:t>
            </a:r>
            <a:endParaRPr lang="en-US" sz="1400" dirty="0"/>
          </a:p>
        </p:txBody>
      </p:sp>
      <p:sp>
        <p:nvSpPr>
          <p:cNvPr id="17" name="Text 6"/>
          <p:cNvSpPr/>
          <p:nvPr/>
        </p:nvSpPr>
        <p:spPr>
          <a:xfrm>
            <a:off x="1737360" y="2468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배경 및 문제 정의  /  방법론 (데이터·피처·모델)  /  연구 결과</a:t>
            </a:r>
            <a:endParaRPr lang="en-US" sz="10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999232"/>
            <a:ext cx="8686800" cy="841248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999232"/>
            <a:ext cx="868680" cy="841248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228600" y="2999232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III</a:t>
            </a:r>
            <a:endParaRPr lang="en-US" sz="2000" dirty="0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7008" y="3182112"/>
            <a:ext cx="402336" cy="402336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1737360" y="3090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솔루션 기반</a:t>
            </a:r>
            <a:endParaRPr lang="en-US" sz="1400" dirty="0"/>
          </a:p>
        </p:txBody>
      </p:sp>
      <p:sp>
        <p:nvSpPr>
          <p:cNvPr id="23" name="Text 9"/>
          <p:cNvSpPr/>
          <p:nvPr/>
        </p:nvSpPr>
        <p:spPr>
          <a:xfrm>
            <a:off x="1737360" y="34564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솔루션 컨셉 &amp; 주요 기능  /  아키텍처 설계  /  화면 시연</a:t>
            </a:r>
            <a:endParaRPr lang="en-US" sz="10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986784"/>
            <a:ext cx="8686800" cy="841248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986784"/>
            <a:ext cx="868680" cy="841248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228600" y="3986784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IV</a:t>
            </a:r>
            <a:endParaRPr lang="en-US" sz="2000" dirty="0"/>
          </a:p>
        </p:txBody>
      </p:sp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7008" y="4169664"/>
            <a:ext cx="402336" cy="402336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1737360" y="4078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코드 리뷰</a:t>
            </a:r>
            <a:endParaRPr lang="en-US" sz="1400" dirty="0"/>
          </a:p>
        </p:txBody>
      </p:sp>
      <p:sp>
        <p:nvSpPr>
          <p:cNvPr id="29" name="Text 12"/>
          <p:cNvSpPr/>
          <p:nvPr/>
        </p:nvSpPr>
        <p:spPr>
          <a:xfrm>
            <a:off x="1737360" y="444398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개발</a:t>
            </a:r>
            <a:r>
              <a:rPr lang="ko-KR" altLang="en-US" sz="1000" dirty="0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환경</a:t>
            </a:r>
            <a:endParaRPr lang="en-US" sz="1000" dirty="0"/>
          </a:p>
        </p:txBody>
      </p:sp>
      <p:sp>
        <p:nvSpPr>
          <p:cNvPr id="30" name="Shape 1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1" name="Text 14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 설명 가능한 AI 기반 활동 데이터 분류 솔루션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1168"/>
            <a:ext cx="868680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2336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I. 전체 구성도 (표)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704088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E6C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I. 전체 구성도</a:t>
            </a:r>
            <a:endParaRPr lang="en-US" sz="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04672"/>
            <a:ext cx="8686800" cy="3950208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804672"/>
            <a:ext cx="8686800" cy="42062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20040" y="8138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단계</a:t>
            </a:r>
            <a:endParaRPr lang="en-US" sz="1200" dirty="0"/>
          </a:p>
        </p:txBody>
      </p:sp>
      <p:sp>
        <p:nvSpPr>
          <p:cNvPr id="9" name="Text 3"/>
          <p:cNvSpPr/>
          <p:nvPr/>
        </p:nvSpPr>
        <p:spPr>
          <a:xfrm>
            <a:off x="1188720" y="8138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구분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2267712" y="813816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기술 요약 설명</a:t>
            </a:r>
            <a:endParaRPr lang="en-US" sz="1200" dirty="0"/>
          </a:p>
        </p:txBody>
      </p:sp>
      <p:sp>
        <p:nvSpPr>
          <p:cNvPr id="11" name="Shape 5"/>
          <p:cNvSpPr/>
          <p:nvPr/>
        </p:nvSpPr>
        <p:spPr>
          <a:xfrm>
            <a:off x="228600" y="1261872"/>
            <a:ext cx="8686800" cy="822960"/>
          </a:xfrm>
          <a:prstGeom prst="rect">
            <a:avLst/>
          </a:prstGeom>
          <a:solidFill>
            <a:srgbClr val="FDFAF5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274320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1단계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연구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1143000" y="1325880"/>
            <a:ext cx="18288" cy="694944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1234440" y="1463040"/>
            <a:ext cx="932688" cy="4206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1234440" y="146304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데이터 수집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및 전처리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2221992" y="1325880"/>
            <a:ext cx="18288" cy="694944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304288" y="1298448"/>
            <a:ext cx="4114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📄 Actigraphy 기반 활동 센서 데이터 수집 (DEPRESJON: 우울 23명, 정상 32명)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결측값 처리 (선형 보간) · 표준화 (StandardScaler) · 클래스 불균형 해결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473952" y="1325880"/>
            <a:ext cx="18288" cy="694944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547104" y="1353312"/>
            <a:ext cx="804672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547104" y="135331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데이터 입력 UI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6528816" y="1645920"/>
            <a:ext cx="22677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Streamlit 설문 슬라이더 — 4가지 질문으로 활동 패턴 수집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228600" y="2121408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74320" y="21214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2단계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구현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143000" y="2185416"/>
            <a:ext cx="18288" cy="694944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234440" y="2322576"/>
            <a:ext cx="932688" cy="420624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234440" y="2322576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피처 추출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및 분석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2221992" y="2185416"/>
            <a:ext cx="18288" cy="694944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304288" y="2157984"/>
            <a:ext cx="4114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📄 통계적 피처 10종 계산: mean_act, std_act, zero_ratio, autocorr, psd_mean, cv_act, skew, kurt, age, gender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6473952" y="2185416"/>
            <a:ext cx="18288" cy="694944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547104" y="2212848"/>
            <a:ext cx="804672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547104" y="22128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피처 매핑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6528816" y="2505456"/>
            <a:ext cx="22677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설문 응답 → 논문 피처 공간으로 수학적 변환 (f_mean, f_zero, f_std 등)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228600" y="2980944"/>
            <a:ext cx="8686800" cy="822960"/>
          </a:xfrm>
          <a:prstGeom prst="rect">
            <a:avLst/>
          </a:prstGeom>
          <a:solidFill>
            <a:srgbClr val="FDFAF5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74320" y="298094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3단계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구현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1143000" y="3044952"/>
            <a:ext cx="18288" cy="694944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234440" y="3182112"/>
            <a:ext cx="932688" cy="42062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234440" y="3182112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분류 모델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학습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2221992" y="3044952"/>
            <a:ext cx="18288" cy="694944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304288" y="3017520"/>
            <a:ext cx="4114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📄 Random Forest / XGBoost 앙상블 이진 분류 · K-fold 교차검증 · MADRS 점수 기반 4단계 레이블링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6473952" y="3044952"/>
            <a:ext cx="18288" cy="694944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547104" y="3072384"/>
            <a:ext cx="804672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547104" y="307238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추론 엔진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6528816" y="3364992"/>
            <a:ext cx="22677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사전 학습 모델로 우울 확률 추정 → MADRS 역산 → 리듬 점수(0~100) 도출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228600" y="3840480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27432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4단계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솔루션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1143000" y="3904488"/>
            <a:ext cx="18288" cy="694944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1234440" y="4041648"/>
            <a:ext cx="932688" cy="42062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1234440" y="4041648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XAI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설명 가능성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2221992" y="3904488"/>
            <a:ext cx="18288" cy="694944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2304288" y="3877056"/>
            <a:ext cx="4114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📄 SHAP / LIME 기반 피처 중요도 시각화 · zero_ratio가 SHAP 1위 예측 피처 · 의료진 신뢰성 확보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6473952" y="3904488"/>
            <a:ext cx="18288" cy="694944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6547104" y="3931920"/>
            <a:ext cx="804672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6547104" y="39319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결과 시각화</a:t>
            </a:r>
            <a:endParaRPr lang="en-US" sz="850" dirty="0"/>
          </a:p>
        </p:txBody>
      </p:sp>
      <p:sp>
        <p:nvSpPr>
          <p:cNvPr id="54" name="Text 48"/>
          <p:cNvSpPr/>
          <p:nvPr/>
        </p:nvSpPr>
        <p:spPr>
          <a:xfrm>
            <a:off x="6528816" y="4224528"/>
            <a:ext cx="22677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리듬 점수 진행 바 · 4단계 심각도 라벨 · 맞춤형 미션 · 마음 정원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 설명 가능한 AI 기반 활동 데이터 분류 솔루션</a:t>
            </a:r>
            <a:endParaRPr lang="en-US" sz="75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770149"/>
              </p:ext>
            </p:extLst>
          </p:nvPr>
        </p:nvGraphicFramePr>
        <p:xfrm>
          <a:off x="182880" y="802640"/>
          <a:ext cx="8796020" cy="3860799"/>
        </p:xfrm>
        <a:graphic>
          <a:graphicData uri="http://schemas.openxmlformats.org/drawingml/2006/table">
            <a:tbl>
              <a:tblPr/>
              <a:tblGrid>
                <a:gridCol w="68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0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96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74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논문 기반 단계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기술 요약 설명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II. 솔루션 단계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기술 요약 설명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구분(구현/개발)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1단계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수집 및 전처리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 err="1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웨어러블</a:t>
                      </a:r>
                      <a:r>
                        <a:rPr lang="en-US" sz="900" dirty="0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기반 활동 센서 데이터 수집, </a:t>
                      </a:r>
                      <a:r>
                        <a:rPr lang="en-US" sz="900" dirty="0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900" dirty="0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</a:t>
                      </a:r>
                      <a:r>
                        <a:rPr lang="en-US" sz="900" dirty="0" err="1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처리</a:t>
                      </a:r>
                      <a:r>
                        <a:rPr lang="en-US" sz="9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피처 엔지니어링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입력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설문 슬라이더를 통한 </a:t>
                      </a:r>
                      <a:r>
                        <a:rPr lang="en-US" sz="900" dirty="0" err="1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</a:t>
                      </a:r>
                      <a:r>
                        <a:rPr lang="en-US" sz="9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900" dirty="0" smtClean="0">
                        <a:solidFill>
                          <a:srgbClr val="4A608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 err="1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활동</a:t>
                      </a:r>
                      <a:r>
                        <a:rPr lang="en-US" sz="900" dirty="0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패턴 입력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 smtClean="0">
                          <a:solidFill>
                            <a:srgbClr val="0D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2단계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피처 추출 및 분석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평균활동량, 표준편차, 자기상관, PSD, </a:t>
                      </a:r>
                      <a:r>
                        <a:rPr lang="en-US" sz="900" dirty="0" err="1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무활동비율</a:t>
                      </a:r>
                      <a:r>
                        <a:rPr lang="en-US" sz="9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 </a:t>
                      </a:r>
                      <a:r>
                        <a:rPr lang="en-US" sz="900" dirty="0" err="1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피처</a:t>
                      </a:r>
                      <a:r>
                        <a:rPr lang="en-US" sz="900" dirty="0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피처 매핑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설문 응답을 논문 피처 공간으로 수학적 변환 (f_mean, f_zero, f_std 등)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3단계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분류 모델 학습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Forest, </a:t>
                      </a:r>
                      <a:r>
                        <a:rPr lang="en-US" sz="900" b="1" dirty="0" err="1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900" dirty="0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 </a:t>
                      </a:r>
                      <a:r>
                        <a:rPr lang="en-US" sz="900" dirty="0" err="1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기반</a:t>
                      </a:r>
                      <a:r>
                        <a:rPr lang="en-US" sz="900" dirty="0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 err="1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이진</a:t>
                      </a:r>
                      <a:r>
                        <a:rPr lang="en-US" sz="900" dirty="0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ko-KR" altLang="en-US" sz="900" dirty="0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다중 </a:t>
                      </a:r>
                      <a:r>
                        <a:rPr lang="en-US" sz="900" dirty="0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 err="1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추론 엔진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사전 학습된 모델로 우울 확률 추정 → MADRS 지수 역산 → 리듬 점수 도출</a:t>
                      </a:r>
                      <a:endParaRPr lang="en-US" sz="9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 smtClean="0">
                          <a:solidFill>
                            <a:srgbClr val="0D8A8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개발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5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4단계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 가능성 (XAI)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/ LIME 기반 피처 중요도 시각화</a:t>
                      </a:r>
                      <a:r>
                        <a:rPr lang="en-US" sz="9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모델 결정 근거 제공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 시각화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리듬</a:t>
                      </a:r>
                      <a:r>
                        <a:rPr lang="en-US" sz="9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 err="1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점수바</a:t>
                      </a:r>
                      <a:r>
                        <a:rPr lang="en-US" sz="9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심각도 라벨, </a:t>
                      </a:r>
                      <a:r>
                        <a:rPr lang="en-US" sz="900" dirty="0" err="1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맞춤형</a:t>
                      </a:r>
                      <a:r>
                        <a:rPr lang="en-US" sz="900" baseline="0" dirty="0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 err="1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미션</a:t>
                      </a:r>
                      <a:r>
                        <a:rPr lang="en-US" sz="900" dirty="0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 err="1" smtClean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 smtClean="0">
                          <a:solidFill>
                            <a:srgbClr val="0D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1168"/>
            <a:ext cx="868680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2336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II-1. 배경: </a:t>
            </a:r>
            <a:r>
              <a:rPr lang="en-US" sz="1700" b="1" dirty="0" err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문제</a:t>
            </a: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ko-KR" altLang="en-US" sz="17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제기</a:t>
            </a:r>
            <a:r>
              <a:rPr lang="en-US" sz="17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및 연구 필요성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704088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E6C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II. 논문 기반 &gt; 1. 배경</a:t>
            </a:r>
            <a:endParaRPr lang="en-US" sz="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22960"/>
            <a:ext cx="4937760" cy="9144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28600" y="822960"/>
            <a:ext cx="82296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402336" y="8869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C6282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>
                <a:solidFill>
                  <a:srgbClr val="C6282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설문 기반 진단의 주관성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02336" y="120700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PHQ-9, MADRS 등 자가 보고 기반 — 회상 편향에 취약하여 오진 가능성 높음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828800"/>
            <a:ext cx="4937760" cy="9144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228600" y="1828800"/>
            <a:ext cx="82296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02336" y="18928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E651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>
                <a:solidFill>
                  <a:srgbClr val="E651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조기 발견의 어려움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02336" y="221284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증상 악화 전 선별 체계 미흡 — 전문의 부족으로 지속 모니터링 어려움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834640"/>
            <a:ext cx="4937760" cy="9144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228600" y="2834640"/>
            <a:ext cx="82296" cy="9144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402336" y="28986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객관적 활동 데이터 기반 분석 필요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02336" y="321868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일상 활동 패턴 변화가 핵심 증상이나 정량적 수집·분석 방법론 부재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840480"/>
            <a:ext cx="4937760" cy="9144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228600" y="3840480"/>
            <a:ext cx="82296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402336" y="39044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자동 진단 시스템 필요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402336" y="422452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SHAP </a:t>
            </a:r>
            <a:r>
              <a:rPr lang="ko-KR" altLang="en-US" sz="100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및 </a:t>
            </a:r>
            <a:r>
              <a:rPr lang="en-US" altLang="ko-KR" sz="100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LIME </a:t>
            </a:r>
            <a:r>
              <a:rPr lang="en-US" altLang="ko-KR" sz="1000" b="1" dirty="0" err="1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기반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dirty="0" err="1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피처</a:t>
            </a:r>
            <a:r>
              <a:rPr lang="en-US" altLang="ko-KR" sz="100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altLang="ko-KR" sz="1000" dirty="0" err="1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중요도</a:t>
            </a:r>
            <a:r>
              <a:rPr lang="en-US" altLang="ko-KR" sz="100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altLang="ko-KR" sz="1000" dirty="0" err="1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분석으로</a:t>
            </a:r>
            <a:r>
              <a:rPr lang="en-US" altLang="ko-KR" sz="100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altLang="ko-KR" sz="1000" dirty="0" err="1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예측</a:t>
            </a:r>
            <a:r>
              <a:rPr lang="en-US" altLang="ko-KR" sz="100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altLang="ko-KR" sz="1000" dirty="0" err="1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근거</a:t>
            </a:r>
            <a:r>
              <a:rPr lang="en-US" altLang="ko-KR" sz="100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altLang="ko-KR" sz="1000" dirty="0" err="1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제공</a:t>
            </a:r>
            <a:r>
              <a:rPr lang="en-US" altLang="ko-KR" sz="1000" dirty="0" err="1"/>
              <a:t>-</a:t>
            </a:r>
            <a:r>
              <a:rPr lang="en-US" altLang="ko-KR" sz="1000" dirty="0" err="1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의료진</a:t>
            </a:r>
            <a:r>
              <a:rPr lang="en-US" altLang="ko-KR" sz="1000" dirty="0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altLang="ko-KR" sz="1000" dirty="0" err="1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신뢰성</a:t>
            </a:r>
            <a:r>
              <a:rPr lang="en-US" altLang="ko-KR" sz="100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altLang="ko-KR" sz="1000" dirty="0" err="1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확보</a:t>
            </a:r>
            <a:endParaRPr lang="en-US" altLang="ko-KR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822960"/>
            <a:ext cx="3566160" cy="384048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822960"/>
            <a:ext cx="3566160" cy="38404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486400" y="8321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📊 연구 필요성</a:t>
            </a:r>
            <a:endParaRPr lang="en-US" sz="1200" dirty="0"/>
          </a:p>
        </p:txBody>
      </p:sp>
      <p:sp>
        <p:nvSpPr>
          <p:cNvPr id="25" name="Shape 15"/>
          <p:cNvSpPr/>
          <p:nvPr/>
        </p:nvSpPr>
        <p:spPr>
          <a:xfrm>
            <a:off x="5532120" y="1335024"/>
            <a:ext cx="3291840" cy="932688"/>
          </a:xfrm>
          <a:prstGeom prst="rect">
            <a:avLst/>
          </a:prstGeom>
          <a:solidFill>
            <a:srgbClr val="FDFAF5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5532120" y="1335024"/>
            <a:ext cx="1554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280M+</a:t>
            </a:r>
            <a:endParaRPr lang="en-US" sz="2400" dirty="0"/>
          </a:p>
        </p:txBody>
      </p:sp>
      <p:sp>
        <p:nvSpPr>
          <p:cNvPr id="27" name="Shape 17"/>
          <p:cNvSpPr/>
          <p:nvPr/>
        </p:nvSpPr>
        <p:spPr>
          <a:xfrm>
            <a:off x="7150608" y="1444752"/>
            <a:ext cx="27432" cy="713232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7242048" y="1335024"/>
            <a:ext cx="1508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전 세계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환자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5532120" y="2414016"/>
            <a:ext cx="3291840" cy="932688"/>
          </a:xfrm>
          <a:prstGeom prst="rect">
            <a:avLst/>
          </a:prstGeom>
          <a:solidFill>
            <a:srgbClr val="FDFAF5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532120" y="2414016"/>
            <a:ext cx="1554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51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50%↑</a:t>
            </a:r>
            <a:endParaRPr lang="en-US" sz="2400" dirty="0"/>
          </a:p>
        </p:txBody>
      </p:sp>
      <p:sp>
        <p:nvSpPr>
          <p:cNvPr id="31" name="Shape 21"/>
          <p:cNvSpPr/>
          <p:nvPr/>
        </p:nvSpPr>
        <p:spPr>
          <a:xfrm>
            <a:off x="7150608" y="2523744"/>
            <a:ext cx="27432" cy="713232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7242048" y="2414016"/>
            <a:ext cx="1508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진단 받지 못하는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환자 비율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5532120" y="3493008"/>
            <a:ext cx="3291840" cy="932688"/>
          </a:xfrm>
          <a:prstGeom prst="rect">
            <a:avLst/>
          </a:prstGeom>
          <a:solidFill>
            <a:srgbClr val="FDFAF5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5532120" y="3493008"/>
            <a:ext cx="1554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84~94%</a:t>
            </a:r>
            <a:endParaRPr lang="en-US" sz="2400" dirty="0"/>
          </a:p>
        </p:txBody>
      </p:sp>
      <p:sp>
        <p:nvSpPr>
          <p:cNvPr id="35" name="Shape 25"/>
          <p:cNvSpPr/>
          <p:nvPr/>
        </p:nvSpPr>
        <p:spPr>
          <a:xfrm>
            <a:off x="7150608" y="3602736"/>
            <a:ext cx="27432" cy="713232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7242048" y="3493008"/>
            <a:ext cx="1508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활동 데이터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분류 정확도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 설명 가능한 AI 기반 활동 데이터 분류 솔루션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1168"/>
            <a:ext cx="868680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2336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II-2. 방법론: 적용 기술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704088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E6C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II. 논문 기반 &gt; 2. 방법론</a:t>
            </a:r>
            <a:endParaRPr lang="en-US" sz="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22960"/>
            <a:ext cx="2834640" cy="400507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818388"/>
            <a:ext cx="2834640" cy="402336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971" y="903182"/>
            <a:ext cx="310896" cy="27432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49808" y="928675"/>
            <a:ext cx="18732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 err="1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웨어러블</a:t>
            </a:r>
            <a:r>
              <a:rPr lang="en-US" sz="11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활동 센서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365760" y="1719072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손목형</a:t>
            </a:r>
            <a:r>
              <a:rPr lang="en-US" sz="1000" dirty="0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ko-KR" altLang="en-US" sz="1000" dirty="0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활동 측정 시계</a:t>
            </a:r>
            <a:r>
              <a:rPr lang="en-US" sz="1000" dirty="0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로 </a:t>
            </a:r>
            <a:r>
              <a:rPr lang="en-US" sz="100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수집된 수면 / </a:t>
            </a:r>
            <a:endParaRPr lang="en-US" sz="1000" dirty="0" smtClean="0">
              <a:solidFill>
                <a:srgbClr val="1F1F1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0" indent="0">
              <a:buNone/>
            </a:pPr>
            <a:r>
              <a:rPr lang="en-US" sz="1000" dirty="0" err="1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활동</a:t>
            </a:r>
            <a:r>
              <a:rPr lang="en-US" sz="1000" dirty="0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00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데이터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DEPRESJON 공개 데이터셋 활용</a:t>
            </a:r>
            <a:endParaRPr lang="en-US" sz="1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(우울증 23명, 정상 32명, 총 55명)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365760" y="2706624"/>
            <a:ext cx="2560320" cy="27432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411480" y="2816352"/>
            <a:ext cx="118872" cy="11887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612648" y="27706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분 단위 활동 카운트(activity count) 연속 기록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411480" y="3310128"/>
            <a:ext cx="118872" cy="11887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612648" y="32644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1~3주간 일상 환경에서 자연스러운 데이터 수집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411480" y="3803904"/>
            <a:ext cx="118872" cy="11887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12648" y="375818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나이·성별 인구통계 정보 포함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822960"/>
            <a:ext cx="2834640" cy="4005072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813816"/>
            <a:ext cx="2834640" cy="402336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7268" y="896038"/>
            <a:ext cx="310896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22331" y="896112"/>
            <a:ext cx="18090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머신러닝 분류 모델</a:t>
            </a:r>
            <a:endParaRPr lang="en-US" sz="1100" dirty="0"/>
          </a:p>
        </p:txBody>
      </p:sp>
      <p:sp>
        <p:nvSpPr>
          <p:cNvPr id="28" name="Text 18"/>
          <p:cNvSpPr/>
          <p:nvPr/>
        </p:nvSpPr>
        <p:spPr>
          <a:xfrm>
            <a:off x="3337560" y="1719072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000" b="1" dirty="0" err="1">
                <a:solidFill>
                  <a:srgbClr val="FF0000"/>
                </a:solidFill>
                <a:latin typeface="Arimo"/>
                <a:ea typeface="Arimo"/>
              </a:rPr>
              <a:t>LogisticRegression</a:t>
            </a:r>
            <a:endParaRPr lang="en-US" altLang="ko-KR" sz="1000" b="1" dirty="0">
              <a:solidFill>
                <a:srgbClr val="FF0000"/>
              </a:solidFill>
              <a:latin typeface="Arimo"/>
              <a:ea typeface="Arimo"/>
            </a:endParaRPr>
          </a:p>
          <a:p>
            <a:r>
              <a:rPr lang="en-US" altLang="ko-KR" sz="100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altLang="ko-KR" sz="1000" b="1" dirty="0" smtClean="0">
                <a:solidFill>
                  <a:srgbClr val="FF0000"/>
                </a:solidFill>
                <a:ea typeface="Arimo"/>
              </a:rPr>
              <a:t>SVM*,</a:t>
            </a:r>
            <a:r>
              <a:rPr lang="en-US" altLang="ko-KR" b="1" dirty="0" smtClean="0">
                <a:solidFill>
                  <a:srgbClr val="FF0000"/>
                </a:solidFill>
                <a:ea typeface="Arimo"/>
              </a:rPr>
              <a:t> </a:t>
            </a:r>
            <a:r>
              <a:rPr lang="en-US" sz="100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Random Forest, </a:t>
            </a:r>
            <a:r>
              <a:rPr lang="en-US" sz="1000" b="1" dirty="0" err="1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XGBoost</a:t>
            </a:r>
            <a:r>
              <a:rPr lang="en-US" sz="100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sz="1000" b="1" dirty="0" err="1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NN모델</a:t>
            </a:r>
            <a:r>
              <a:rPr lang="en-US" sz="100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ko-KR" altLang="en-US" sz="1000" dirty="0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학습 및 평가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3337560" y="2706624"/>
            <a:ext cx="2560320" cy="27432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3383280" y="2816352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3584448" y="27706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이진 분류: 정상 vs 우울증 (Accuracy </a:t>
            </a:r>
            <a:r>
              <a:rPr lang="en-US" sz="950" dirty="0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83%)</a:t>
            </a:r>
            <a:endParaRPr lang="en-US" sz="950" dirty="0"/>
          </a:p>
        </p:txBody>
      </p:sp>
      <p:sp>
        <p:nvSpPr>
          <p:cNvPr id="32" name="Shape 22"/>
          <p:cNvSpPr/>
          <p:nvPr/>
        </p:nvSpPr>
        <p:spPr>
          <a:xfrm>
            <a:off x="3383280" y="3310128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3584448" y="32644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다중 분류: 정상 / 경도 / 중등도 (Accuracy </a:t>
            </a:r>
            <a:r>
              <a:rPr lang="en-US" sz="950" dirty="0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85%)</a:t>
            </a:r>
            <a:endParaRPr lang="en-US" sz="950" dirty="0"/>
          </a:p>
        </p:txBody>
      </p:sp>
      <p:sp>
        <p:nvSpPr>
          <p:cNvPr id="34" name="Shape 24"/>
          <p:cNvSpPr/>
          <p:nvPr/>
        </p:nvSpPr>
        <p:spPr>
          <a:xfrm>
            <a:off x="3383280" y="3803904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3584448" y="375818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ADASYN</a:t>
            </a:r>
            <a:endParaRPr lang="en-US" altLang="ko-KR" sz="1050" dirty="0"/>
          </a:p>
          <a:p>
            <a:pPr marL="0" indent="0">
              <a:buNone/>
            </a:pPr>
            <a:r>
              <a:rPr lang="en-US" sz="950" dirty="0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950" dirty="0" err="1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오버샘플링으로</a:t>
            </a:r>
            <a:r>
              <a:rPr lang="en-US" sz="950" dirty="0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클래스 </a:t>
            </a:r>
            <a:r>
              <a:rPr lang="en-US" sz="950" dirty="0" err="1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불균형</a:t>
            </a: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950" dirty="0" err="1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해결</a:t>
            </a:r>
            <a:endParaRPr lang="en-US" sz="950" dirty="0" smtClean="0">
              <a:solidFill>
                <a:srgbClr val="475569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822960"/>
            <a:ext cx="2834640" cy="4005072"/>
          </a:xfrm>
          <a:prstGeom prst="rect">
            <a:avLst/>
          </a:prstGeom>
        </p:spPr>
      </p:pic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828091"/>
            <a:ext cx="2834640" cy="402336"/>
          </a:xfrm>
          <a:prstGeom prst="rect">
            <a:avLst/>
          </a:prstGeom>
        </p:spPr>
      </p:pic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903182"/>
            <a:ext cx="310896" cy="27432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652852" y="908807"/>
            <a:ext cx="2184232" cy="263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XAI (설명 가능한 AI)</a:t>
            </a:r>
            <a:endParaRPr lang="en-US" sz="1100" dirty="0"/>
          </a:p>
        </p:txBody>
      </p:sp>
      <p:sp>
        <p:nvSpPr>
          <p:cNvPr id="43" name="Text 30"/>
          <p:cNvSpPr/>
          <p:nvPr/>
        </p:nvSpPr>
        <p:spPr>
          <a:xfrm>
            <a:off x="6309360" y="1719072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SHAP</a:t>
            </a:r>
            <a:r>
              <a:rPr lang="en-US" sz="100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ko-KR" altLang="en-US" sz="100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및 </a:t>
            </a:r>
            <a:r>
              <a:rPr lang="en-US" altLang="ko-KR" sz="100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LIME </a:t>
            </a:r>
            <a:r>
              <a:rPr lang="en-US" sz="1000" b="1" dirty="0" err="1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기반</a:t>
            </a:r>
            <a:endParaRPr lang="en-US" sz="1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피처 중요도 분석으로 예측 근거 제공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의료진 신뢰성 확보</a:t>
            </a:r>
            <a:endParaRPr lang="en-US" sz="1000" dirty="0"/>
          </a:p>
        </p:txBody>
      </p:sp>
      <p:sp>
        <p:nvSpPr>
          <p:cNvPr id="44" name="Shape 31"/>
          <p:cNvSpPr/>
          <p:nvPr/>
        </p:nvSpPr>
        <p:spPr>
          <a:xfrm>
            <a:off x="6309360" y="2706624"/>
            <a:ext cx="2560320" cy="27432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5" name="Shape 32"/>
          <p:cNvSpPr/>
          <p:nvPr/>
        </p:nvSpPr>
        <p:spPr>
          <a:xfrm>
            <a:off x="6355080" y="2816352"/>
            <a:ext cx="118872" cy="11887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6" name="Text 33"/>
          <p:cNvSpPr/>
          <p:nvPr/>
        </p:nvSpPr>
        <p:spPr>
          <a:xfrm>
            <a:off x="6556248" y="27706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SHAP: 각 피처가 예측에 기여한 정도를 정량화</a:t>
            </a:r>
            <a:endParaRPr lang="en-US" sz="950" dirty="0"/>
          </a:p>
        </p:txBody>
      </p:sp>
      <p:sp>
        <p:nvSpPr>
          <p:cNvPr id="47" name="Shape 34"/>
          <p:cNvSpPr/>
          <p:nvPr/>
        </p:nvSpPr>
        <p:spPr>
          <a:xfrm>
            <a:off x="6355080" y="3310128"/>
            <a:ext cx="118872" cy="11887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6556248" y="32644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LIME: 개별 예측 사례별 로컬 설명 제공</a:t>
            </a:r>
            <a:endParaRPr lang="en-US" sz="950" dirty="0"/>
          </a:p>
        </p:txBody>
      </p:sp>
      <p:sp>
        <p:nvSpPr>
          <p:cNvPr id="49" name="Shape 36"/>
          <p:cNvSpPr/>
          <p:nvPr/>
        </p:nvSpPr>
        <p:spPr>
          <a:xfrm>
            <a:off x="6355080" y="3803904"/>
            <a:ext cx="118872" cy="11887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6556248" y="375818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 err="1" smtClean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무활동비율</a:t>
            </a:r>
            <a:r>
              <a:rPr lang="ko-KR" altLang="en-US" sz="1000" dirty="0" smtClean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</a:t>
            </a:r>
            <a:r>
              <a:rPr lang="en-US" sz="950" dirty="0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SHAP </a:t>
            </a: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분석 1위 핵심 피처로 확인</a:t>
            </a:r>
            <a:endParaRPr lang="en-US" sz="950" dirty="0"/>
          </a:p>
        </p:txBody>
      </p:sp>
      <p:sp>
        <p:nvSpPr>
          <p:cNvPr id="51" name="Shape 38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52" name="Text 39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 설명 가능한 AI 기반 활동 데이터 분류 솔루션</a:t>
            </a:r>
            <a:endParaRPr lang="en-US" sz="750" dirty="0"/>
          </a:p>
        </p:txBody>
      </p:sp>
      <p:sp>
        <p:nvSpPr>
          <p:cNvPr id="53" name="TextBox 52"/>
          <p:cNvSpPr txBox="1"/>
          <p:nvPr/>
        </p:nvSpPr>
        <p:spPr>
          <a:xfrm>
            <a:off x="3175706" y="4581292"/>
            <a:ext cx="2740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Arimo"/>
                <a:ea typeface="Arimo"/>
              </a:rPr>
              <a:t>*SVM: 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Arimo"/>
              </a:rPr>
              <a:t>최적의 </a:t>
            </a:r>
            <a:r>
              <a:rPr lang="ko-KR" altLang="en-US" sz="800" b="1" dirty="0" err="1" smtClean="0">
                <a:solidFill>
                  <a:schemeClr val="bg1">
                    <a:lumMod val="50000"/>
                  </a:schemeClr>
                </a:solidFill>
                <a:latin typeface="Arimo"/>
              </a:rPr>
              <a:t>초평면을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Arimo"/>
              </a:rPr>
              <a:t> 찾는 알고리즘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97164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1168"/>
            <a:ext cx="868680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2336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II-2. 방법론: 연구 목적 / 설정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704088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E6C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II. 논문 기반 &gt; 2. 방법론</a:t>
            </a:r>
            <a:endParaRPr lang="en-US" sz="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04672"/>
            <a:ext cx="5074920" cy="406908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804672"/>
            <a:ext cx="5074920" cy="40233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65760" y="81381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연구 목적 및 설정</a:t>
            </a: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320040" y="1316736"/>
            <a:ext cx="4892040" cy="786384"/>
          </a:xfrm>
          <a:prstGeom prst="rect">
            <a:avLst/>
          </a:prstGeom>
          <a:solidFill>
            <a:srgbClr val="FDFAF5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320040" y="1316736"/>
            <a:ext cx="512064" cy="7863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320040" y="1316736"/>
            <a:ext cx="512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932688" y="1353312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이진 분류 모델 개발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932688" y="1645920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객관적 활동 패턴 피처(10종)를 활용한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정상 vs 우울증 이진 분류 모델 개발</a:t>
            </a:r>
            <a:endParaRPr lang="en-US" sz="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 XGBoost 최종 모델 선정 (Accuracy 84.94%)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320040" y="2194560"/>
            <a:ext cx="4892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20040" y="2194560"/>
            <a:ext cx="512064" cy="78638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320040" y="2194560"/>
            <a:ext cx="512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932688" y="2231136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 err="1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</a:t>
            </a:r>
            <a:r>
              <a:rPr lang="en-US" altLang="ko-KR" sz="1100" b="1" dirty="0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ko-KR" altLang="en-US" sz="1100" b="1" dirty="0" smtClean="0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다중</a:t>
            </a:r>
            <a:r>
              <a:rPr lang="en-US" altLang="ko-KR" sz="1100" b="1" dirty="0" smtClean="0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altLang="ko-KR" sz="1100" b="1" dirty="0" err="1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분류</a:t>
            </a:r>
            <a:r>
              <a:rPr lang="en-US" altLang="ko-KR" sz="1100" b="1" dirty="0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altLang="ko-KR" sz="1100" b="1" dirty="0" err="1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모델</a:t>
            </a:r>
            <a:r>
              <a:rPr lang="en-US" altLang="ko-KR" sz="1100" b="1" dirty="0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altLang="ko-KR" sz="1100" b="1" dirty="0" err="1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개발</a:t>
            </a:r>
            <a:endParaRPr lang="en-US" altLang="ko-KR" sz="1100" dirty="0">
              <a:solidFill>
                <a:srgbClr val="00695C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932688" y="2523744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MADRS(</a:t>
            </a:r>
            <a:r>
              <a:rPr lang="ko-KR" altLang="en-US" sz="90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평가 척도</a:t>
            </a:r>
            <a:r>
              <a:rPr lang="en-US" altLang="ko-KR" sz="90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)</a:t>
            </a:r>
            <a:r>
              <a:rPr lang="en-US" sz="90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심각도 점수와 연계한 위험도 분류 체계</a:t>
            </a:r>
            <a:endParaRPr lang="en-US" sz="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안정(0-10) / 경도(11-32) / 중등도(33-57) / 심각(58+)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 리듬 점수(0~100)로 직관적 시각화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320040" y="3072384"/>
            <a:ext cx="4892040" cy="786384"/>
          </a:xfrm>
          <a:prstGeom prst="rect">
            <a:avLst/>
          </a:prstGeom>
          <a:solidFill>
            <a:srgbClr val="FDFAF5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20040" y="3072384"/>
            <a:ext cx="512064" cy="78638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20040" y="3072384"/>
            <a:ext cx="512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32688" y="310896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XAI 기반 설명 가능성 확보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32688" y="3401568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SHAP 기반 피처 중요도 분석</a:t>
            </a:r>
            <a:endParaRPr lang="en-US" sz="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zero_ratio(무활동 비율), autocorr(자기상관) 등</a:t>
            </a:r>
            <a:endParaRPr lang="en-US" sz="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핵심 피처 해석 → 의료진 신뢰성 확보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0040" y="3950208"/>
            <a:ext cx="4892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20040" y="3950208"/>
            <a:ext cx="512064" cy="7863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20040" y="3950208"/>
            <a:ext cx="512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32688" y="3986784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실사용 가능 서비스 구현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32688" y="4279392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Streamlit 기반 사용자 친화적 인터페이스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실시간 위험도 평가 및 맞춤형 미션 제공</a:t>
            </a:r>
            <a:endParaRPr lang="en-US" sz="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 전문 장비 없이 15~20초 내 진단 가능</a:t>
            </a:r>
            <a:endParaRPr lang="en-US" sz="9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804672"/>
            <a:ext cx="3429000" cy="1920240"/>
          </a:xfrm>
          <a:prstGeom prst="rect">
            <a:avLst/>
          </a:prstGeom>
        </p:spPr>
      </p:pic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804672"/>
            <a:ext cx="3429000" cy="40233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623560" y="8138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데이터셋 설정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5577840" y="1280160"/>
            <a:ext cx="3246120" cy="310896"/>
          </a:xfrm>
          <a:prstGeom prst="rect">
            <a:avLst/>
          </a:prstGeom>
          <a:solidFill>
            <a:srgbClr val="FDFAF5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5669280" y="131673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데이터셋</a:t>
            </a:r>
            <a:endParaRPr lang="en-US" sz="950" dirty="0"/>
          </a:p>
        </p:txBody>
      </p:sp>
      <p:sp>
        <p:nvSpPr>
          <p:cNvPr id="35" name="Text 26"/>
          <p:cNvSpPr/>
          <p:nvPr/>
        </p:nvSpPr>
        <p:spPr>
          <a:xfrm>
            <a:off x="6720840" y="1316736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DEPRESJON (</a:t>
            </a:r>
            <a:r>
              <a:rPr lang="en-US" sz="950" dirty="0" err="1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공개</a:t>
            </a: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950" dirty="0" err="1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데이터셋</a:t>
            </a: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: </a:t>
            </a:r>
            <a:r>
              <a:rPr lang="en-US" sz="80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https://datasets.simula.no/depresjon/</a:t>
            </a: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)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5577840" y="1627632"/>
            <a:ext cx="3246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669280" y="16642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수집 방법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6720840" y="16642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손목형</a:t>
            </a: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ko-KR" altLang="en-US" sz="950" dirty="0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활동량 측정 시계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5577840" y="1975104"/>
            <a:ext cx="3246120" cy="310896"/>
          </a:xfrm>
          <a:prstGeom prst="rect">
            <a:avLst/>
          </a:prstGeom>
          <a:solidFill>
            <a:srgbClr val="FDFAF5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5669280" y="20116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샘플 수</a:t>
            </a:r>
            <a:endParaRPr lang="en-US" sz="950" dirty="0"/>
          </a:p>
        </p:txBody>
      </p:sp>
      <p:sp>
        <p:nvSpPr>
          <p:cNvPr id="41" name="Text 32"/>
          <p:cNvSpPr/>
          <p:nvPr/>
        </p:nvSpPr>
        <p:spPr>
          <a:xfrm>
            <a:off x="6720840" y="201168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 23명 / 정상 32명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5577840" y="2322576"/>
            <a:ext cx="3246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5669280" y="235915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레이블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6720840" y="235915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MADRS 점수 기반 이진/다중</a:t>
            </a:r>
            <a:endParaRPr lang="en-US" sz="95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834640"/>
            <a:ext cx="3429000" cy="2039112"/>
          </a:xfrm>
          <a:prstGeom prst="rect">
            <a:avLst/>
          </a:prstGeom>
        </p:spPr>
      </p:pic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834640"/>
            <a:ext cx="3429000" cy="402336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5623560" y="28437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200" b="1" dirty="0" err="1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모델</a:t>
            </a:r>
            <a:r>
              <a:rPr lang="en-US" sz="12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학습 설정</a:t>
            </a:r>
            <a:endParaRPr lang="en-US" sz="1200" dirty="0"/>
          </a:p>
        </p:txBody>
      </p:sp>
      <p:sp>
        <p:nvSpPr>
          <p:cNvPr id="49" name="Shape 37"/>
          <p:cNvSpPr/>
          <p:nvPr/>
        </p:nvSpPr>
        <p:spPr>
          <a:xfrm>
            <a:off x="5577840" y="3605784"/>
            <a:ext cx="3246120" cy="274320"/>
          </a:xfrm>
          <a:prstGeom prst="rect">
            <a:avLst/>
          </a:prstGeom>
          <a:solidFill>
            <a:srgbClr val="FDFAF5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5669280" y="3643503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분류 유형</a:t>
            </a:r>
            <a:endParaRPr lang="en-US" sz="950" dirty="0"/>
          </a:p>
        </p:txBody>
      </p:sp>
      <p:sp>
        <p:nvSpPr>
          <p:cNvPr id="51" name="Text 39"/>
          <p:cNvSpPr/>
          <p:nvPr/>
        </p:nvSpPr>
        <p:spPr>
          <a:xfrm>
            <a:off x="6812280" y="3633216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이진 / 다중(3클래스)</a:t>
            </a:r>
            <a:endParaRPr lang="en-US" sz="950" dirty="0"/>
          </a:p>
        </p:txBody>
      </p:sp>
      <p:sp>
        <p:nvSpPr>
          <p:cNvPr id="55" name="Shape 43"/>
          <p:cNvSpPr/>
          <p:nvPr/>
        </p:nvSpPr>
        <p:spPr>
          <a:xfrm>
            <a:off x="5577840" y="3931920"/>
            <a:ext cx="3246120" cy="274320"/>
          </a:xfrm>
          <a:prstGeom prst="rect">
            <a:avLst/>
          </a:prstGeom>
          <a:solidFill>
            <a:srgbClr val="FDFAF5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5669280" y="39593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불균형 처리</a:t>
            </a:r>
            <a:endParaRPr lang="en-US" sz="950" dirty="0"/>
          </a:p>
        </p:txBody>
      </p:sp>
      <p:sp>
        <p:nvSpPr>
          <p:cNvPr id="57" name="Text 45"/>
          <p:cNvSpPr/>
          <p:nvPr/>
        </p:nvSpPr>
        <p:spPr>
          <a:xfrm>
            <a:off x="6812280" y="395935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ADASYN</a:t>
            </a:r>
            <a:r>
              <a:rPr lang="en-US" altLang="ko-KR" sz="1000" dirty="0" smtClean="0"/>
              <a:t> </a:t>
            </a:r>
            <a:r>
              <a:rPr lang="en-US" sz="950" dirty="0" err="1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오버샘플링</a:t>
            </a:r>
            <a:endParaRPr lang="en-US" sz="950" dirty="0"/>
          </a:p>
        </p:txBody>
      </p:sp>
      <p:sp>
        <p:nvSpPr>
          <p:cNvPr id="58" name="Shape 46"/>
          <p:cNvSpPr/>
          <p:nvPr/>
        </p:nvSpPr>
        <p:spPr>
          <a:xfrm>
            <a:off x="5577840" y="4242816"/>
            <a:ext cx="3246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59" name="Text 47"/>
          <p:cNvSpPr/>
          <p:nvPr/>
        </p:nvSpPr>
        <p:spPr>
          <a:xfrm>
            <a:off x="5669280" y="42702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평가 지표</a:t>
            </a:r>
            <a:endParaRPr lang="en-US" sz="950" dirty="0"/>
          </a:p>
        </p:txBody>
      </p:sp>
      <p:sp>
        <p:nvSpPr>
          <p:cNvPr id="60" name="Text 48"/>
          <p:cNvSpPr/>
          <p:nvPr/>
        </p:nvSpPr>
        <p:spPr>
          <a:xfrm>
            <a:off x="6812280" y="427024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F1F1F"/>
                </a:solidFill>
                <a:latin typeface="Arimo"/>
                <a:ea typeface="Arimo"/>
                <a:cs typeface="Arimo" pitchFamily="34" charset="-120"/>
              </a:rPr>
              <a:t>Accuracy, </a:t>
            </a:r>
            <a:r>
              <a:rPr lang="en-US" altLang="ko-KR" sz="900" dirty="0" smtClean="0">
                <a:latin typeface="Arimo"/>
                <a:ea typeface="Arimo"/>
              </a:rPr>
              <a:t>Precision, Recall, </a:t>
            </a:r>
            <a:r>
              <a:rPr lang="en-US" sz="900" dirty="0" smtClean="0">
                <a:solidFill>
                  <a:srgbClr val="1F1F1F"/>
                </a:solidFill>
                <a:latin typeface="Arimo"/>
                <a:ea typeface="Arimo"/>
                <a:cs typeface="Arimo" pitchFamily="34" charset="-120"/>
              </a:rPr>
              <a:t>F1</a:t>
            </a:r>
            <a:r>
              <a:rPr lang="en-US" sz="900" dirty="0">
                <a:solidFill>
                  <a:srgbClr val="1F1F1F"/>
                </a:solidFill>
                <a:latin typeface="Arimo"/>
                <a:ea typeface="Arimo"/>
                <a:cs typeface="Arimo" pitchFamily="34" charset="-120"/>
              </a:rPr>
              <a:t>, </a:t>
            </a:r>
            <a:r>
              <a:rPr lang="en-US" sz="900" dirty="0" smtClean="0">
                <a:solidFill>
                  <a:srgbClr val="1F1F1F"/>
                </a:solidFill>
                <a:latin typeface="Arimo"/>
                <a:ea typeface="Arimo"/>
                <a:cs typeface="Arimo" pitchFamily="34" charset="-120"/>
              </a:rPr>
              <a:t>MCC</a:t>
            </a:r>
            <a:endParaRPr lang="en-US" sz="900" dirty="0">
              <a:latin typeface="Arimo"/>
              <a:ea typeface="Arimo"/>
            </a:endParaRPr>
          </a:p>
        </p:txBody>
      </p:sp>
      <p:sp>
        <p:nvSpPr>
          <p:cNvPr id="61" name="Shape 49"/>
          <p:cNvSpPr/>
          <p:nvPr/>
        </p:nvSpPr>
        <p:spPr>
          <a:xfrm>
            <a:off x="5577840" y="4553712"/>
            <a:ext cx="3246120" cy="274320"/>
          </a:xfrm>
          <a:prstGeom prst="rect">
            <a:avLst/>
          </a:prstGeom>
          <a:solidFill>
            <a:srgbClr val="FDFAF5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62" name="Text 50"/>
          <p:cNvSpPr/>
          <p:nvPr/>
        </p:nvSpPr>
        <p:spPr>
          <a:xfrm>
            <a:off x="5669280" y="45811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최종 모델</a:t>
            </a:r>
            <a:endParaRPr lang="en-US" sz="950" dirty="0"/>
          </a:p>
        </p:txBody>
      </p:sp>
      <p:sp>
        <p:nvSpPr>
          <p:cNvPr id="63" name="Text 51"/>
          <p:cNvSpPr/>
          <p:nvPr/>
        </p:nvSpPr>
        <p:spPr>
          <a:xfrm>
            <a:off x="6812280" y="458114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XGBoost (최고 성능)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65" name="Text 53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 설명 가능한 AI 기반 활동 데이터 분류 솔루션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94291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716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1168"/>
            <a:ext cx="868680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2336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II-2. 방법론: 모델 개발 및 분류 작업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704088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E6C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II. 논문 기반 &gt; 2. 방법론</a:t>
            </a:r>
            <a:endParaRPr lang="en-US" sz="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1252728"/>
            <a:ext cx="1609344" cy="1898686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" y="1280159"/>
            <a:ext cx="1609344" cy="524637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42316" y="1280159"/>
            <a:ext cx="347472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534924" y="1280159"/>
            <a:ext cx="1280160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데이터 수집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333756" y="1719071"/>
            <a:ext cx="1426464" cy="1224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노르웨이 </a:t>
            </a:r>
            <a:r>
              <a:rPr lang="en-US" sz="950" dirty="0" err="1" smtClean="0">
                <a:latin typeface="Arimo" pitchFamily="34" charset="0"/>
                <a:ea typeface="Arimo" pitchFamily="34" charset="-122"/>
                <a:cs typeface="Arimo" pitchFamily="34" charset="-120"/>
              </a:rPr>
              <a:t>Depresjon</a:t>
            </a:r>
            <a:endParaRPr lang="en-US" sz="950" dirty="0"/>
          </a:p>
          <a:p>
            <a:pPr marL="0" indent="0" algn="ctr">
              <a:buNone/>
            </a:pPr>
            <a:r>
              <a:rPr lang="ko-KR" altLang="en-US" sz="950" dirty="0" err="1" smtClean="0">
                <a:latin typeface="Arimo" pitchFamily="34" charset="0"/>
                <a:ea typeface="Arimo" pitchFamily="34" charset="-122"/>
                <a:cs typeface="Arimo" pitchFamily="34" charset="-120"/>
              </a:rPr>
              <a:t>손목형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 활동량 측정 시계</a:t>
            </a:r>
            <a:endParaRPr lang="en-US" sz="950" dirty="0"/>
          </a:p>
        </p:txBody>
      </p:sp>
      <p:sp>
        <p:nvSpPr>
          <p:cNvPr id="11" name="Shape 5"/>
          <p:cNvSpPr/>
          <p:nvPr/>
        </p:nvSpPr>
        <p:spPr>
          <a:xfrm>
            <a:off x="1879092" y="1901951"/>
            <a:ext cx="91440" cy="62457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964" y="1280160"/>
            <a:ext cx="1609344" cy="1898686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964" y="1280159"/>
            <a:ext cx="1609344" cy="52463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997964" y="1280159"/>
            <a:ext cx="347472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7"/>
          <p:cNvSpPr/>
          <p:nvPr/>
        </p:nvSpPr>
        <p:spPr>
          <a:xfrm>
            <a:off x="2290572" y="1280159"/>
            <a:ext cx="1280160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전처리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2089404" y="1719071"/>
            <a:ext cx="1426464" cy="1224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00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ADASYN* </a:t>
            </a:r>
            <a:r>
              <a:rPr lang="ko-KR" altLang="en-US" sz="100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및</a:t>
            </a:r>
            <a:endParaRPr lang="en-US" altLang="ko-KR" sz="1050" dirty="0"/>
          </a:p>
          <a:p>
            <a:pPr marL="0" indent="0" algn="ctr">
              <a:buNone/>
            </a:pPr>
            <a:r>
              <a:rPr lang="ko-KR" altLang="en-US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데이터 </a:t>
            </a:r>
            <a:r>
              <a:rPr lang="en-US" sz="950" dirty="0" err="1" smtClean="0">
                <a:latin typeface="Arimo" pitchFamily="34" charset="0"/>
                <a:ea typeface="Arimo" pitchFamily="34" charset="-122"/>
                <a:cs typeface="Arimo" pitchFamily="34" charset="-120"/>
              </a:rPr>
              <a:t>정규화</a:t>
            </a:r>
            <a:endParaRPr lang="en-US" sz="950" dirty="0"/>
          </a:p>
        </p:txBody>
      </p:sp>
      <p:sp>
        <p:nvSpPr>
          <p:cNvPr id="17" name="Shape 9"/>
          <p:cNvSpPr/>
          <p:nvPr/>
        </p:nvSpPr>
        <p:spPr>
          <a:xfrm>
            <a:off x="3634740" y="1901951"/>
            <a:ext cx="91440" cy="62457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3612" y="1280160"/>
            <a:ext cx="1609344" cy="1898686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612" y="1280159"/>
            <a:ext cx="1609344" cy="524637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753612" y="1280159"/>
            <a:ext cx="347472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1"/>
          <p:cNvSpPr/>
          <p:nvPr/>
        </p:nvSpPr>
        <p:spPr>
          <a:xfrm>
            <a:off x="4046220" y="1280159"/>
            <a:ext cx="1280160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피처 추출</a:t>
            </a:r>
            <a:endParaRPr lang="en-US" sz="1100" dirty="0"/>
          </a:p>
        </p:txBody>
      </p:sp>
      <p:sp>
        <p:nvSpPr>
          <p:cNvPr id="22" name="Text 12"/>
          <p:cNvSpPr/>
          <p:nvPr/>
        </p:nvSpPr>
        <p:spPr>
          <a:xfrm>
            <a:off x="3845052" y="1719071"/>
            <a:ext cx="1426464" cy="1224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latin typeface="Arimo" pitchFamily="34" charset="0"/>
                <a:ea typeface="Arimo" pitchFamily="34" charset="-122"/>
                <a:cs typeface="Arimo" pitchFamily="34" charset="-120"/>
              </a:rPr>
              <a:t>통계 10</a:t>
            </a:r>
            <a:r>
              <a:rPr lang="en-US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종</a:t>
            </a:r>
          </a:p>
          <a:p>
            <a:pPr marL="0" indent="0" algn="ctr">
              <a:buNone/>
            </a:pPr>
            <a:r>
              <a:rPr lang="en-US" sz="950" dirty="0" smtClean="0">
                <a:latin typeface="Arimo" pitchFamily="34" charset="0"/>
                <a:ea typeface="Arimo" pitchFamily="34" charset="-122"/>
              </a:rPr>
              <a:t>(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</a:rPr>
              <a:t>활동량 평균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</a:rPr>
              <a:t>, 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</a:rPr>
              <a:t>표준편차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</a:rPr>
              <a:t>, 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</a:rPr>
              <a:t>왜도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</a:rPr>
              <a:t>, 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</a:rPr>
              <a:t>첨도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</a:rPr>
              <a:t>, 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</a:rPr>
              <a:t>수면자기상관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</a:rPr>
              <a:t>, 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</a:rPr>
              <a:t>추정치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</a:rPr>
              <a:t>, </a:t>
            </a:r>
            <a:r>
              <a:rPr lang="ko-KR" altLang="en-US" sz="950" dirty="0" err="1" smtClean="0">
                <a:latin typeface="Arimo" pitchFamily="34" charset="0"/>
                <a:ea typeface="Arimo" pitchFamily="34" charset="-122"/>
              </a:rPr>
              <a:t>전환특징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</a:rPr>
              <a:t>, </a:t>
            </a:r>
            <a:r>
              <a:rPr lang="ko-KR" altLang="en-US" sz="950" dirty="0" err="1" smtClean="0">
                <a:latin typeface="Arimo" pitchFamily="34" charset="0"/>
                <a:ea typeface="Arimo" pitchFamily="34" charset="-122"/>
              </a:rPr>
              <a:t>무활동비율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</a:rPr>
              <a:t>, 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</a:rPr>
              <a:t>나이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</a:rPr>
              <a:t>, 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</a:rPr>
              <a:t>성별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</a:rPr>
              <a:t>)</a:t>
            </a:r>
            <a:endParaRPr lang="en-US" sz="950" dirty="0"/>
          </a:p>
        </p:txBody>
      </p:sp>
      <p:sp>
        <p:nvSpPr>
          <p:cNvPr id="23" name="Shape 13"/>
          <p:cNvSpPr/>
          <p:nvPr/>
        </p:nvSpPr>
        <p:spPr>
          <a:xfrm>
            <a:off x="5390388" y="1901951"/>
            <a:ext cx="91440" cy="62457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9260" y="1280160"/>
            <a:ext cx="1609344" cy="1898686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260" y="1280159"/>
            <a:ext cx="1609344" cy="524637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509260" y="1280159"/>
            <a:ext cx="347472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15"/>
          <p:cNvSpPr/>
          <p:nvPr/>
        </p:nvSpPr>
        <p:spPr>
          <a:xfrm>
            <a:off x="5801868" y="1280159"/>
            <a:ext cx="1280160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모델 학습</a:t>
            </a:r>
            <a:endParaRPr lang="en-US" sz="1100" dirty="0"/>
          </a:p>
        </p:txBody>
      </p:sp>
      <p:sp>
        <p:nvSpPr>
          <p:cNvPr id="28" name="Text 16"/>
          <p:cNvSpPr/>
          <p:nvPr/>
        </p:nvSpPr>
        <p:spPr>
          <a:xfrm>
            <a:off x="5600700" y="1719071"/>
            <a:ext cx="1426464" cy="1224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900" dirty="0" err="1">
                <a:latin typeface="Arimo"/>
                <a:ea typeface="Arimo"/>
              </a:rPr>
              <a:t>LogisticRegression</a:t>
            </a:r>
            <a:endParaRPr lang="en-US" altLang="ko-KR" sz="900" dirty="0">
              <a:latin typeface="Arimo"/>
              <a:ea typeface="Arimo"/>
            </a:endParaRPr>
          </a:p>
          <a:p>
            <a:pPr algn="ctr"/>
            <a:r>
              <a:rPr lang="en-US" altLang="ko-KR" sz="90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altLang="ko-KR" sz="900" dirty="0">
                <a:ea typeface="Arimo"/>
              </a:rPr>
              <a:t>SVM*,</a:t>
            </a:r>
            <a:r>
              <a:rPr lang="en-US" altLang="ko-KR" sz="1000" dirty="0">
                <a:ea typeface="Arimo"/>
              </a:rPr>
              <a:t> </a:t>
            </a:r>
            <a:r>
              <a:rPr lang="en-US" altLang="ko-KR" sz="900" dirty="0">
                <a:latin typeface="Arimo" pitchFamily="34" charset="0"/>
                <a:ea typeface="Arimo" pitchFamily="34" charset="-122"/>
                <a:cs typeface="Arimo" pitchFamily="34" charset="-120"/>
              </a:rPr>
              <a:t>Random Forest, </a:t>
            </a:r>
            <a:r>
              <a:rPr lang="en-US" altLang="ko-KR" sz="900" dirty="0" err="1">
                <a:latin typeface="Arimo" pitchFamily="34" charset="0"/>
                <a:ea typeface="Arimo" pitchFamily="34" charset="-122"/>
                <a:cs typeface="Arimo" pitchFamily="34" charset="-120"/>
              </a:rPr>
              <a:t>XGBoost</a:t>
            </a:r>
            <a:r>
              <a:rPr lang="en-US" altLang="ko-KR" sz="900" dirty="0"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altLang="ko-KR" sz="900" dirty="0" err="1">
                <a:latin typeface="Arimo" pitchFamily="34" charset="0"/>
                <a:ea typeface="Arimo" pitchFamily="34" charset="-122"/>
                <a:cs typeface="Arimo" pitchFamily="34" charset="-120"/>
              </a:rPr>
              <a:t>NN모델</a:t>
            </a:r>
            <a:endParaRPr lang="en-US" sz="950" dirty="0"/>
          </a:p>
        </p:txBody>
      </p:sp>
      <p:sp>
        <p:nvSpPr>
          <p:cNvPr id="29" name="Shape 17"/>
          <p:cNvSpPr/>
          <p:nvPr/>
        </p:nvSpPr>
        <p:spPr>
          <a:xfrm>
            <a:off x="7146036" y="1901951"/>
            <a:ext cx="91440" cy="62457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908" y="1280160"/>
            <a:ext cx="1609344" cy="1898686"/>
          </a:xfrm>
          <a:prstGeom prst="rect">
            <a:avLst/>
          </a:prstGeom>
        </p:spPr>
      </p:pic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908" y="1280159"/>
            <a:ext cx="1609344" cy="524637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7264908" y="1280159"/>
            <a:ext cx="347472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19"/>
          <p:cNvSpPr/>
          <p:nvPr/>
        </p:nvSpPr>
        <p:spPr>
          <a:xfrm>
            <a:off x="7557516" y="1280159"/>
            <a:ext cx="1280160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XAI 해석</a:t>
            </a:r>
            <a:endParaRPr lang="en-US" sz="1100" dirty="0"/>
          </a:p>
        </p:txBody>
      </p:sp>
      <p:sp>
        <p:nvSpPr>
          <p:cNvPr id="34" name="Text 20"/>
          <p:cNvSpPr/>
          <p:nvPr/>
        </p:nvSpPr>
        <p:spPr>
          <a:xfrm>
            <a:off x="7356348" y="1719071"/>
            <a:ext cx="1426464" cy="1224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latin typeface="Arimo" pitchFamily="34" charset="0"/>
                <a:ea typeface="Arimo" pitchFamily="34" charset="-122"/>
                <a:cs typeface="Arimo" pitchFamily="34" charset="-120"/>
              </a:rPr>
              <a:t>SHAP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latin typeface="Arimo" pitchFamily="34" charset="0"/>
                <a:ea typeface="Arimo" pitchFamily="34" charset="-122"/>
                <a:cs typeface="Arimo" pitchFamily="34" charset="-120"/>
              </a:rPr>
              <a:t>LIME</a:t>
            </a:r>
            <a:endParaRPr lang="en-US" sz="950" dirty="0"/>
          </a:p>
        </p:txBody>
      </p:sp>
      <p:sp>
        <p:nvSpPr>
          <p:cNvPr id="69" name="Shape 49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70" name="Text 50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 설명 가능한 AI 기반 활동 데이터 분류 솔루션</a:t>
            </a:r>
            <a:endParaRPr lang="en-US" sz="750" dirty="0"/>
          </a:p>
        </p:txBody>
      </p:sp>
      <p:sp>
        <p:nvSpPr>
          <p:cNvPr id="71" name="TextBox 70"/>
          <p:cNvSpPr txBox="1"/>
          <p:nvPr/>
        </p:nvSpPr>
        <p:spPr>
          <a:xfrm>
            <a:off x="1632861" y="3299155"/>
            <a:ext cx="2595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ea typeface="Arimo"/>
              </a:rPr>
              <a:t>SMOTE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</a:rPr>
              <a:t>는 모든 소수 데이터를 고르게 증강시키는 반면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ea typeface="Arimo"/>
              </a:rPr>
              <a:t>,</a:t>
            </a:r>
          </a:p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ea typeface="Arimo"/>
              </a:rPr>
              <a:t>ADASYN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</a:rPr>
              <a:t>은 주변에 다수 클래스가 많아 분류가 어려운 </a:t>
            </a:r>
            <a:endParaRPr lang="en-US" altLang="ko-KR" sz="8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</a:rPr>
              <a:t>소수 데이터 주변을 집중적으로 증강시킴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1168"/>
            <a:ext cx="868680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2336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II-3. 결과: </a:t>
            </a:r>
            <a:r>
              <a:rPr lang="ko-KR" altLang="en-US" sz="17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이진 </a:t>
            </a:r>
            <a:r>
              <a:rPr lang="en-US" sz="1700" b="1" dirty="0" err="1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모델</a:t>
            </a:r>
            <a:r>
              <a:rPr lang="en-US" sz="17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성능 및 XAI 해석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704088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E6C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II. 논문 기반 &gt; 3. 결과</a:t>
            </a:r>
            <a:endParaRPr lang="en-US" sz="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715772"/>
            <a:ext cx="2011680" cy="138988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417320" y="715772"/>
            <a:ext cx="2011680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417320" y="8620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83%</a:t>
            </a:r>
            <a:endParaRPr lang="en-US" sz="3000" dirty="0"/>
          </a:p>
        </p:txBody>
      </p:sp>
      <p:sp>
        <p:nvSpPr>
          <p:cNvPr id="9" name="Text 4"/>
          <p:cNvSpPr/>
          <p:nvPr/>
        </p:nvSpPr>
        <p:spPr>
          <a:xfrm>
            <a:off x="1417320" y="15204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정확도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1417320" y="18130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Accuracy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715772"/>
            <a:ext cx="2011680" cy="138988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611880" y="715772"/>
            <a:ext cx="2011680" cy="822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3611880" y="8620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 smtClean="0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68%</a:t>
            </a:r>
            <a:endParaRPr lang="en-US" sz="3000" dirty="0"/>
          </a:p>
        </p:txBody>
      </p:sp>
      <p:sp>
        <p:nvSpPr>
          <p:cNvPr id="14" name="Text 8"/>
          <p:cNvSpPr/>
          <p:nvPr/>
        </p:nvSpPr>
        <p:spPr>
          <a:xfrm>
            <a:off x="3611880" y="15204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b="1" dirty="0"/>
              <a:t>균형 정확도</a:t>
            </a:r>
            <a:endParaRPr lang="en-US" sz="1050" b="1" dirty="0"/>
          </a:p>
        </p:txBody>
      </p:sp>
      <p:sp>
        <p:nvSpPr>
          <p:cNvPr id="15" name="Text 9"/>
          <p:cNvSpPr/>
          <p:nvPr/>
        </p:nvSpPr>
        <p:spPr>
          <a:xfrm>
            <a:off x="3611880" y="18130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8D6E63"/>
                </a:solidFill>
                <a:latin typeface="Arimo" pitchFamily="34" charset="0"/>
                <a:ea typeface="Arimo" pitchFamily="34" charset="-122"/>
              </a:rPr>
              <a:t>MCC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715772"/>
            <a:ext cx="2011680" cy="138988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806440" y="715772"/>
            <a:ext cx="2011680" cy="8229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806440" y="8620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 smtClean="0">
                <a:solidFill>
                  <a:srgbClr val="F9A825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75%</a:t>
            </a:r>
            <a:endParaRPr lang="en-US" sz="3000" dirty="0"/>
          </a:p>
        </p:txBody>
      </p:sp>
      <p:sp>
        <p:nvSpPr>
          <p:cNvPr id="19" name="Text 12"/>
          <p:cNvSpPr/>
          <p:nvPr/>
        </p:nvSpPr>
        <p:spPr>
          <a:xfrm>
            <a:off x="5806440" y="15204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F1 </a:t>
            </a:r>
            <a:r>
              <a:rPr lang="ko-KR" altLang="en-US" sz="1050" b="1" dirty="0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점수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5806440" y="18130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987B6F"/>
                </a:solidFill>
                <a:latin typeface="Arimo"/>
                <a:ea typeface="Arimo"/>
              </a:rPr>
              <a:t>F1-Score</a:t>
            </a:r>
            <a:endParaRPr lang="en-US" sz="900" dirty="0">
              <a:solidFill>
                <a:srgbClr val="987B6F"/>
              </a:solidFill>
              <a:latin typeface="Arimo"/>
              <a:ea typeface="Arimo"/>
            </a:endParaRPr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86000"/>
            <a:ext cx="4754880" cy="2468880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286000"/>
            <a:ext cx="4754880" cy="40233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65760" y="22951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📊 SHAP </a:t>
            </a:r>
            <a:r>
              <a:rPr lang="en-US" sz="1200" b="1" dirty="0" err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피처</a:t>
            </a: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200" b="1" dirty="0" err="1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중요도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320040" y="2798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zero_ratio ⭐</a:t>
            </a:r>
            <a:endParaRPr lang="en-US" sz="950" dirty="0"/>
          </a:p>
        </p:txBody>
      </p:sp>
      <p:sp>
        <p:nvSpPr>
          <p:cNvPr id="30" name="Shape 20"/>
          <p:cNvSpPr/>
          <p:nvPr/>
        </p:nvSpPr>
        <p:spPr>
          <a:xfrm>
            <a:off x="1764792" y="2852928"/>
            <a:ext cx="2691994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4520794" y="2798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0.92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320040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mean_act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1764792" y="3172968"/>
            <a:ext cx="2282342" cy="18288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4111142" y="3118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0.78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320040" y="3438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autocorr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1764792" y="3493008"/>
            <a:ext cx="1901952" cy="1828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730752" y="34381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0.65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320040" y="3758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cv_act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1764792" y="3813048"/>
            <a:ext cx="1580083" cy="1828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408883" y="3758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0.54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320040" y="4078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psd_mean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1764792" y="4133088"/>
            <a:ext cx="1404518" cy="1828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3233318" y="4078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0.48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320040" y="4398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std_act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1764792" y="4453128"/>
            <a:ext cx="1199693" cy="182880"/>
          </a:xfrm>
          <a:prstGeom prst="rect">
            <a:avLst/>
          </a:prstGeom>
          <a:solidFill>
            <a:srgbClr val="8D6E63"/>
          </a:solidFill>
          <a:ln w="12700">
            <a:solidFill>
              <a:srgbClr val="8D6E63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3028493" y="43982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0.41</a:t>
            </a:r>
            <a:endParaRPr lang="en-US" sz="9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2286000"/>
            <a:ext cx="3520440" cy="2468880"/>
          </a:xfrm>
          <a:prstGeom prst="rect">
            <a:avLst/>
          </a:prstGeom>
        </p:spPr>
      </p:pic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286000"/>
            <a:ext cx="3520440" cy="402336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5303520" y="22951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📊 </a:t>
            </a:r>
            <a:r>
              <a:rPr lang="en-US" altLang="ko-KR" sz="12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LIME </a:t>
            </a:r>
            <a:r>
              <a:rPr lang="en-US" altLang="ko-KR" sz="1200" b="1" dirty="0" err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피처</a:t>
            </a:r>
            <a:r>
              <a:rPr lang="en-US" altLang="ko-KR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altLang="ko-KR" sz="1200" b="1" dirty="0" err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중요도</a:t>
            </a:r>
            <a:endParaRPr lang="en-US" altLang="ko-KR" sz="1200" dirty="0"/>
          </a:p>
        </p:txBody>
      </p:sp>
      <p:sp>
        <p:nvSpPr>
          <p:cNvPr id="50" name="Shape 38"/>
          <p:cNvSpPr/>
          <p:nvPr/>
        </p:nvSpPr>
        <p:spPr>
          <a:xfrm>
            <a:off x="5257800" y="2798064"/>
            <a:ext cx="3337560" cy="420624"/>
          </a:xfrm>
          <a:prstGeom prst="rect">
            <a:avLst/>
          </a:prstGeom>
          <a:solidFill>
            <a:srgbClr val="E8FAF5"/>
          </a:solidFill>
          <a:ln w="12700">
            <a:solidFill>
              <a:srgbClr val="1DD1A1"/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5257800" y="2798064"/>
            <a:ext cx="109728" cy="420624"/>
          </a:xfrm>
          <a:prstGeom prst="rect">
            <a:avLst/>
          </a:prstGeom>
          <a:solidFill>
            <a:srgbClr val="1DD1A1"/>
          </a:solidFill>
          <a:ln w="12700">
            <a:solidFill>
              <a:srgbClr val="1DD1A1"/>
            </a:solidFill>
            <a:prstDash val="solid"/>
          </a:ln>
        </p:spPr>
      </p:sp>
      <p:sp>
        <p:nvSpPr>
          <p:cNvPr id="52" name="Text 40"/>
          <p:cNvSpPr/>
          <p:nvPr/>
        </p:nvSpPr>
        <p:spPr>
          <a:xfrm>
            <a:off x="5468112" y="28529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안정 (Normal)</a:t>
            </a:r>
            <a:endParaRPr lang="en-US" sz="1050" dirty="0"/>
          </a:p>
        </p:txBody>
      </p:sp>
      <p:sp>
        <p:nvSpPr>
          <p:cNvPr id="53" name="Text 41"/>
          <p:cNvSpPr/>
          <p:nvPr/>
        </p:nvSpPr>
        <p:spPr>
          <a:xfrm>
            <a:off x="7818120" y="28529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0–10점</a:t>
            </a:r>
            <a:endParaRPr lang="en-US" sz="1000" dirty="0"/>
          </a:p>
        </p:txBody>
      </p:sp>
      <p:sp>
        <p:nvSpPr>
          <p:cNvPr id="54" name="Shape 42"/>
          <p:cNvSpPr/>
          <p:nvPr/>
        </p:nvSpPr>
        <p:spPr>
          <a:xfrm>
            <a:off x="5257800" y="3273552"/>
            <a:ext cx="3337560" cy="420624"/>
          </a:xfrm>
          <a:prstGeom prst="rect">
            <a:avLst/>
          </a:prstGeom>
          <a:solidFill>
            <a:srgbClr val="FFFDE7"/>
          </a:solidFill>
          <a:ln w="12700">
            <a:solidFill>
              <a:srgbClr val="FECA57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5257800" y="3273552"/>
            <a:ext cx="109728" cy="420624"/>
          </a:xfrm>
          <a:prstGeom prst="rect">
            <a:avLst/>
          </a:prstGeom>
          <a:solidFill>
            <a:srgbClr val="FECA57"/>
          </a:solidFill>
          <a:ln w="12700">
            <a:solidFill>
              <a:srgbClr val="FECA57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5468112" y="33284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경도 의심 (Mild)</a:t>
            </a:r>
            <a:endParaRPr lang="en-US" sz="1050" dirty="0"/>
          </a:p>
        </p:txBody>
      </p:sp>
      <p:sp>
        <p:nvSpPr>
          <p:cNvPr id="57" name="Text 45"/>
          <p:cNvSpPr/>
          <p:nvPr/>
        </p:nvSpPr>
        <p:spPr>
          <a:xfrm>
            <a:off x="7818120" y="33284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11–32점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5257800" y="3749040"/>
            <a:ext cx="3337560" cy="420624"/>
          </a:xfrm>
          <a:prstGeom prst="rect">
            <a:avLst/>
          </a:prstGeom>
          <a:solidFill>
            <a:srgbClr val="FFF3E0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5257800" y="3749040"/>
            <a:ext cx="109728" cy="42062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60" name="Text 48"/>
          <p:cNvSpPr/>
          <p:nvPr/>
        </p:nvSpPr>
        <p:spPr>
          <a:xfrm>
            <a:off x="5468112" y="38039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중등도 의심 (Moderate)</a:t>
            </a:r>
            <a:endParaRPr lang="en-US" sz="1050" dirty="0"/>
          </a:p>
        </p:txBody>
      </p:sp>
      <p:sp>
        <p:nvSpPr>
          <p:cNvPr id="61" name="Text 49"/>
          <p:cNvSpPr/>
          <p:nvPr/>
        </p:nvSpPr>
        <p:spPr>
          <a:xfrm>
            <a:off x="7818120" y="38039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33–57점</a:t>
            </a:r>
            <a:endParaRPr lang="en-US" sz="1000" dirty="0"/>
          </a:p>
        </p:txBody>
      </p:sp>
      <p:sp>
        <p:nvSpPr>
          <p:cNvPr id="62" name="Shape 50"/>
          <p:cNvSpPr/>
          <p:nvPr/>
        </p:nvSpPr>
        <p:spPr>
          <a:xfrm>
            <a:off x="5257800" y="4224528"/>
            <a:ext cx="3337560" cy="420624"/>
          </a:xfrm>
          <a:prstGeom prst="rect">
            <a:avLst/>
          </a:prstGeom>
          <a:solidFill>
            <a:srgbClr val="FFEBEE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5257800" y="4224528"/>
            <a:ext cx="109728" cy="420624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64" name="Text 52"/>
          <p:cNvSpPr/>
          <p:nvPr/>
        </p:nvSpPr>
        <p:spPr>
          <a:xfrm>
            <a:off x="5468112" y="42793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강력 의심 (Severe)</a:t>
            </a:r>
            <a:endParaRPr lang="en-US" sz="1050" dirty="0"/>
          </a:p>
        </p:txBody>
      </p:sp>
      <p:sp>
        <p:nvSpPr>
          <p:cNvPr id="65" name="Text 53"/>
          <p:cNvSpPr/>
          <p:nvPr/>
        </p:nvSpPr>
        <p:spPr>
          <a:xfrm>
            <a:off x="7818120" y="42793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58–100점</a:t>
            </a:r>
            <a:endParaRPr lang="en-US" sz="1000" dirty="0"/>
          </a:p>
        </p:txBody>
      </p:sp>
      <p:pic>
        <p:nvPicPr>
          <p:cNvPr id="66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828032"/>
            <a:ext cx="8686800" cy="182880"/>
          </a:xfrm>
          <a:prstGeom prst="rect">
            <a:avLst/>
          </a:prstGeom>
        </p:spPr>
      </p:pic>
      <p:sp>
        <p:nvSpPr>
          <p:cNvPr id="68" name="Shape 55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69" name="Text 56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 설명 가능한 AI 기반 활동 데이터 분류 솔루션</a:t>
            </a:r>
            <a:endParaRPr lang="en-US" sz="750" dirty="0"/>
          </a:p>
        </p:txBody>
      </p:sp>
      <p:pic>
        <p:nvPicPr>
          <p:cNvPr id="74" name="그림 7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2674239"/>
            <a:ext cx="4754880" cy="2057561"/>
          </a:xfrm>
          <a:prstGeom prst="rect">
            <a:avLst/>
          </a:prstGeom>
        </p:spPr>
      </p:pic>
      <p:pic>
        <p:nvPicPr>
          <p:cNvPr id="76" name="그림 7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1" y="2662809"/>
            <a:ext cx="3520440" cy="20689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868680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2336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II-3. 결과: </a:t>
            </a:r>
            <a:r>
              <a:rPr lang="ko-KR" altLang="en-US" sz="17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다중 </a:t>
            </a:r>
            <a:r>
              <a:rPr lang="en-US" sz="1700" b="1" dirty="0" err="1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모델</a:t>
            </a:r>
            <a:r>
              <a:rPr lang="en-US" sz="17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성능 및 XAI 해석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704088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E6C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II. 논문 기반 &gt; 3. 결과</a:t>
            </a:r>
            <a:endParaRPr lang="en-US" sz="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715772"/>
            <a:ext cx="2011680" cy="138988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417320" y="715772"/>
            <a:ext cx="2011680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417320" y="8620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85%</a:t>
            </a:r>
            <a:endParaRPr lang="en-US" sz="3000" dirty="0"/>
          </a:p>
        </p:txBody>
      </p:sp>
      <p:sp>
        <p:nvSpPr>
          <p:cNvPr id="9" name="Text 4"/>
          <p:cNvSpPr/>
          <p:nvPr/>
        </p:nvSpPr>
        <p:spPr>
          <a:xfrm>
            <a:off x="1417320" y="15204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정확도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1417320" y="18130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Accuracy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715772"/>
            <a:ext cx="2011680" cy="138988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611880" y="715772"/>
            <a:ext cx="2011680" cy="822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3611880" y="8620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 smtClean="0">
                <a:solidFill>
                  <a:srgbClr val="00695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73%</a:t>
            </a:r>
            <a:endParaRPr lang="en-US" sz="3000" dirty="0"/>
          </a:p>
        </p:txBody>
      </p:sp>
      <p:sp>
        <p:nvSpPr>
          <p:cNvPr id="14" name="Text 8"/>
          <p:cNvSpPr/>
          <p:nvPr/>
        </p:nvSpPr>
        <p:spPr>
          <a:xfrm>
            <a:off x="3611880" y="15204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b="1" dirty="0"/>
              <a:t>균형 정확도</a:t>
            </a:r>
            <a:endParaRPr lang="en-US" sz="1050" b="1" dirty="0"/>
          </a:p>
        </p:txBody>
      </p:sp>
      <p:sp>
        <p:nvSpPr>
          <p:cNvPr id="15" name="Text 9"/>
          <p:cNvSpPr/>
          <p:nvPr/>
        </p:nvSpPr>
        <p:spPr>
          <a:xfrm>
            <a:off x="3611880" y="18130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8D6E63"/>
                </a:solidFill>
                <a:latin typeface="Arimo" pitchFamily="34" charset="0"/>
                <a:ea typeface="Arimo" pitchFamily="34" charset="-122"/>
              </a:rPr>
              <a:t>MCC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715772"/>
            <a:ext cx="2011680" cy="138988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806440" y="715772"/>
            <a:ext cx="2011680" cy="8229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806440" y="8620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 smtClean="0">
                <a:solidFill>
                  <a:srgbClr val="F9A825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82%</a:t>
            </a:r>
            <a:endParaRPr lang="en-US" sz="3000" dirty="0"/>
          </a:p>
        </p:txBody>
      </p:sp>
      <p:sp>
        <p:nvSpPr>
          <p:cNvPr id="19" name="Text 12"/>
          <p:cNvSpPr/>
          <p:nvPr/>
        </p:nvSpPr>
        <p:spPr>
          <a:xfrm>
            <a:off x="5806440" y="15204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F1 </a:t>
            </a:r>
            <a:r>
              <a:rPr lang="ko-KR" altLang="en-US" sz="1050" b="1" dirty="0" smtClean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점수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5806440" y="18130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987B6F"/>
                </a:solidFill>
                <a:latin typeface="Arimo"/>
                <a:ea typeface="Arimo"/>
              </a:rPr>
              <a:t>F1-Score</a:t>
            </a:r>
            <a:endParaRPr lang="en-US" sz="900" dirty="0">
              <a:solidFill>
                <a:srgbClr val="987B6F"/>
              </a:solidFill>
              <a:latin typeface="Arimo"/>
              <a:ea typeface="Arimo"/>
            </a:endParaRPr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286000"/>
            <a:ext cx="4754880" cy="2468880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86000"/>
            <a:ext cx="4754880" cy="40233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65760" y="22951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📊 SHAP </a:t>
            </a:r>
            <a:r>
              <a:rPr lang="en-US" sz="1200" b="1" dirty="0" err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피처</a:t>
            </a: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200" b="1" dirty="0" err="1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중요도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320040" y="2798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zero_ratio ⭐</a:t>
            </a:r>
            <a:endParaRPr lang="en-US" sz="950" dirty="0"/>
          </a:p>
        </p:txBody>
      </p:sp>
      <p:sp>
        <p:nvSpPr>
          <p:cNvPr id="30" name="Shape 20"/>
          <p:cNvSpPr/>
          <p:nvPr/>
        </p:nvSpPr>
        <p:spPr>
          <a:xfrm>
            <a:off x="1764792" y="2852928"/>
            <a:ext cx="2691994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4520794" y="2798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0.92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320040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mean_act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1764792" y="3172968"/>
            <a:ext cx="2282342" cy="18288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4111142" y="3118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0.78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320040" y="3438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autocorr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1764792" y="3493008"/>
            <a:ext cx="1901952" cy="1828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730752" y="34381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0.65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320040" y="3758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cv_act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1764792" y="3813048"/>
            <a:ext cx="1580083" cy="1828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408883" y="3758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0.54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320040" y="4078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psd_mean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1764792" y="4133088"/>
            <a:ext cx="1404518" cy="1828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3233318" y="4078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0.48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320040" y="4398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std_act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1764792" y="4453128"/>
            <a:ext cx="1199693" cy="182880"/>
          </a:xfrm>
          <a:prstGeom prst="rect">
            <a:avLst/>
          </a:prstGeom>
          <a:solidFill>
            <a:srgbClr val="8D6E63"/>
          </a:solidFill>
          <a:ln w="12700">
            <a:solidFill>
              <a:srgbClr val="8D6E63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3028493" y="43982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0.41</a:t>
            </a:r>
            <a:endParaRPr lang="en-US" sz="9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286000"/>
            <a:ext cx="3520440" cy="2468880"/>
          </a:xfrm>
          <a:prstGeom prst="rect">
            <a:avLst/>
          </a:prstGeom>
        </p:spPr>
      </p:pic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286000"/>
            <a:ext cx="3520440" cy="402336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5303520" y="22951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📊 </a:t>
            </a:r>
            <a:r>
              <a:rPr lang="en-US" altLang="ko-KR" sz="12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LIME </a:t>
            </a:r>
            <a:r>
              <a:rPr lang="en-US" altLang="ko-KR" sz="1200" b="1" dirty="0" err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피처</a:t>
            </a:r>
            <a:r>
              <a:rPr lang="en-US" altLang="ko-KR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altLang="ko-KR" sz="1200" b="1" dirty="0" err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중요도</a:t>
            </a:r>
            <a:endParaRPr lang="en-US" altLang="ko-KR" sz="1200" dirty="0"/>
          </a:p>
        </p:txBody>
      </p:sp>
      <p:sp>
        <p:nvSpPr>
          <p:cNvPr id="50" name="Shape 38"/>
          <p:cNvSpPr/>
          <p:nvPr/>
        </p:nvSpPr>
        <p:spPr>
          <a:xfrm>
            <a:off x="5257800" y="2798064"/>
            <a:ext cx="3337560" cy="420624"/>
          </a:xfrm>
          <a:prstGeom prst="rect">
            <a:avLst/>
          </a:prstGeom>
          <a:solidFill>
            <a:srgbClr val="E8FAF5"/>
          </a:solidFill>
          <a:ln w="12700">
            <a:solidFill>
              <a:srgbClr val="1DD1A1"/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5257800" y="2798064"/>
            <a:ext cx="109728" cy="420624"/>
          </a:xfrm>
          <a:prstGeom prst="rect">
            <a:avLst/>
          </a:prstGeom>
          <a:solidFill>
            <a:srgbClr val="1DD1A1"/>
          </a:solidFill>
          <a:ln w="12700">
            <a:solidFill>
              <a:srgbClr val="1DD1A1"/>
            </a:solidFill>
            <a:prstDash val="solid"/>
          </a:ln>
        </p:spPr>
      </p:sp>
      <p:sp>
        <p:nvSpPr>
          <p:cNvPr id="52" name="Text 40"/>
          <p:cNvSpPr/>
          <p:nvPr/>
        </p:nvSpPr>
        <p:spPr>
          <a:xfrm>
            <a:off x="5468112" y="28529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안정 (Normal)</a:t>
            </a:r>
            <a:endParaRPr lang="en-US" sz="1050" dirty="0"/>
          </a:p>
        </p:txBody>
      </p:sp>
      <p:sp>
        <p:nvSpPr>
          <p:cNvPr id="53" name="Text 41"/>
          <p:cNvSpPr/>
          <p:nvPr/>
        </p:nvSpPr>
        <p:spPr>
          <a:xfrm>
            <a:off x="7818120" y="28529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0–10점</a:t>
            </a:r>
            <a:endParaRPr lang="en-US" sz="1000" dirty="0"/>
          </a:p>
        </p:txBody>
      </p:sp>
      <p:sp>
        <p:nvSpPr>
          <p:cNvPr id="54" name="Shape 42"/>
          <p:cNvSpPr/>
          <p:nvPr/>
        </p:nvSpPr>
        <p:spPr>
          <a:xfrm>
            <a:off x="5257800" y="3273552"/>
            <a:ext cx="3337560" cy="420624"/>
          </a:xfrm>
          <a:prstGeom prst="rect">
            <a:avLst/>
          </a:prstGeom>
          <a:solidFill>
            <a:srgbClr val="FFFDE7"/>
          </a:solidFill>
          <a:ln w="12700">
            <a:solidFill>
              <a:srgbClr val="FECA57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5257800" y="3273552"/>
            <a:ext cx="109728" cy="420624"/>
          </a:xfrm>
          <a:prstGeom prst="rect">
            <a:avLst/>
          </a:prstGeom>
          <a:solidFill>
            <a:srgbClr val="FECA57"/>
          </a:solidFill>
          <a:ln w="12700">
            <a:solidFill>
              <a:srgbClr val="FECA57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5468112" y="33284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경도 의심 (Mild)</a:t>
            </a:r>
            <a:endParaRPr lang="en-US" sz="1050" dirty="0"/>
          </a:p>
        </p:txBody>
      </p:sp>
      <p:sp>
        <p:nvSpPr>
          <p:cNvPr id="57" name="Text 45"/>
          <p:cNvSpPr/>
          <p:nvPr/>
        </p:nvSpPr>
        <p:spPr>
          <a:xfrm>
            <a:off x="7818120" y="33284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11–32점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5257800" y="3749040"/>
            <a:ext cx="3337560" cy="420624"/>
          </a:xfrm>
          <a:prstGeom prst="rect">
            <a:avLst/>
          </a:prstGeom>
          <a:solidFill>
            <a:srgbClr val="FFF3E0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5257800" y="3749040"/>
            <a:ext cx="109728" cy="42062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60" name="Text 48"/>
          <p:cNvSpPr/>
          <p:nvPr/>
        </p:nvSpPr>
        <p:spPr>
          <a:xfrm>
            <a:off x="5468112" y="38039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중등도 의심 (Moderate)</a:t>
            </a:r>
            <a:endParaRPr lang="en-US" sz="1050" dirty="0"/>
          </a:p>
        </p:txBody>
      </p:sp>
      <p:sp>
        <p:nvSpPr>
          <p:cNvPr id="61" name="Text 49"/>
          <p:cNvSpPr/>
          <p:nvPr/>
        </p:nvSpPr>
        <p:spPr>
          <a:xfrm>
            <a:off x="7818120" y="38039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33–57점</a:t>
            </a:r>
            <a:endParaRPr lang="en-US" sz="1000" dirty="0"/>
          </a:p>
        </p:txBody>
      </p:sp>
      <p:sp>
        <p:nvSpPr>
          <p:cNvPr id="62" name="Shape 50"/>
          <p:cNvSpPr/>
          <p:nvPr/>
        </p:nvSpPr>
        <p:spPr>
          <a:xfrm>
            <a:off x="5257800" y="4224528"/>
            <a:ext cx="3337560" cy="420624"/>
          </a:xfrm>
          <a:prstGeom prst="rect">
            <a:avLst/>
          </a:prstGeom>
          <a:solidFill>
            <a:srgbClr val="FFEBEE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5257800" y="4224528"/>
            <a:ext cx="109728" cy="420624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64" name="Text 52"/>
          <p:cNvSpPr/>
          <p:nvPr/>
        </p:nvSpPr>
        <p:spPr>
          <a:xfrm>
            <a:off x="5468112" y="42793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강력 의심 (Severe)</a:t>
            </a:r>
            <a:endParaRPr lang="en-US" sz="1050" dirty="0"/>
          </a:p>
        </p:txBody>
      </p:sp>
      <p:sp>
        <p:nvSpPr>
          <p:cNvPr id="65" name="Text 53"/>
          <p:cNvSpPr/>
          <p:nvPr/>
        </p:nvSpPr>
        <p:spPr>
          <a:xfrm>
            <a:off x="7818120" y="42793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58–100점</a:t>
            </a:r>
            <a:endParaRPr lang="en-US" sz="1000" dirty="0"/>
          </a:p>
        </p:txBody>
      </p:sp>
      <p:pic>
        <p:nvPicPr>
          <p:cNvPr id="6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828032"/>
            <a:ext cx="8686800" cy="182880"/>
          </a:xfrm>
          <a:prstGeom prst="rect">
            <a:avLst/>
          </a:prstGeom>
        </p:spPr>
      </p:pic>
      <p:sp>
        <p:nvSpPr>
          <p:cNvPr id="68" name="Shape 55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69" name="Text 56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 설명 가능한 AI 기반 활동 데이터 분류 솔루션</a:t>
            </a:r>
            <a:endParaRPr lang="en-US" sz="750" dirty="0"/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679191"/>
            <a:ext cx="4754880" cy="2093977"/>
          </a:xfrm>
          <a:prstGeom prst="rect">
            <a:avLst/>
          </a:prstGeom>
        </p:spPr>
      </p:pic>
      <p:pic>
        <p:nvPicPr>
          <p:cNvPr id="73" name="그림 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0756" y="2666111"/>
            <a:ext cx="3546044" cy="208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67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1168"/>
            <a:ext cx="868680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2336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III-1. </a:t>
            </a:r>
            <a:r>
              <a:rPr lang="en-US" sz="1700" b="1" dirty="0" err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솔루션</a:t>
            </a: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700" b="1" dirty="0" err="1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개요</a:t>
            </a:r>
            <a:r>
              <a:rPr lang="en-US" sz="17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</a:t>
            </a:r>
            <a:r>
              <a:rPr lang="ko-KR" altLang="en-US" sz="17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컨셉 및 기능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704088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E6C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III. 솔루션 기반 &gt; 1. 솔루션 개요</a:t>
            </a:r>
            <a:endParaRPr lang="en-US" sz="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04672"/>
            <a:ext cx="8686800" cy="87782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804672"/>
            <a:ext cx="82296" cy="87782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02336" y="8412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2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솔루션 컨셉: </a:t>
            </a:r>
            <a:r>
              <a:rPr lang="ko-KR" altLang="en-US" sz="1250" b="1" dirty="0" err="1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마인드리듬</a:t>
            </a:r>
            <a:endParaRPr lang="en-US" sz="1250" dirty="0"/>
          </a:p>
        </p:txBody>
      </p:sp>
      <p:sp>
        <p:nvSpPr>
          <p:cNvPr id="9" name="Text 3"/>
          <p:cNvSpPr/>
          <p:nvPr/>
        </p:nvSpPr>
        <p:spPr>
          <a:xfrm>
            <a:off x="402336" y="115214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일상 활동 리듬 데이터를 기반으로 우울증 위험도를 실시간 평가하고, 개인화된 행동 미션을 통해 정신 건강 회복을 지원하는 AI 코칭 플랫폼</a:t>
            </a:r>
            <a:endParaRPr lang="en-US" sz="11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828800"/>
            <a:ext cx="2816352" cy="1353312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828800"/>
            <a:ext cx="82296" cy="1353312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429768" y="19202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설문 기반 입력</a:t>
            </a:r>
            <a:endParaRPr lang="en-US" sz="1100" dirty="0"/>
          </a:p>
        </p:txBody>
      </p:sp>
      <p:sp>
        <p:nvSpPr>
          <p:cNvPr id="13" name="Text 5"/>
          <p:cNvSpPr/>
          <p:nvPr/>
        </p:nvSpPr>
        <p:spPr>
          <a:xfrm>
            <a:off x="429768" y="230428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950" dirty="0" err="1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웨어러블</a:t>
            </a:r>
            <a:r>
              <a:rPr lang="ko-KR" altLang="en-US" sz="950" dirty="0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연동 없이 </a:t>
            </a:r>
            <a:r>
              <a:rPr lang="en-US" sz="95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r>
              <a:rPr lang="en-US" sz="95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가지 질문(</a:t>
            </a:r>
            <a:r>
              <a:rPr lang="en-US" sz="950" b="1" dirty="0" err="1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무기력</a:t>
            </a:r>
            <a:r>
              <a:rPr lang="ko-KR" altLang="en-US" sz="95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정</a:t>
            </a:r>
            <a:r>
              <a:rPr lang="en-US" sz="95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도</a:t>
            </a:r>
            <a:r>
              <a:rPr lang="en-US" sz="95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ko-KR" altLang="en-US" sz="95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누워있는 </a:t>
            </a:r>
            <a:r>
              <a:rPr lang="en-US" sz="950" b="1" dirty="0" err="1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시간</a:t>
            </a:r>
            <a:r>
              <a:rPr lang="en-US" sz="95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활동패턴, 생활리듬)으로</a:t>
            </a:r>
            <a:endParaRPr lang="en-US" sz="95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95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간편 데이터 수집</a:t>
            </a: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15~20초 소요</a:t>
            </a:r>
            <a:endParaRPr lang="en-US" sz="95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968" y="1828800"/>
            <a:ext cx="2816352" cy="1353312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1828800"/>
            <a:ext cx="82296" cy="1353312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3374136" y="19202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위험도 추정</a:t>
            </a:r>
            <a:endParaRPr lang="en-US" sz="1100" dirty="0"/>
          </a:p>
        </p:txBody>
      </p:sp>
      <p:sp>
        <p:nvSpPr>
          <p:cNvPr id="17" name="Text 7"/>
          <p:cNvSpPr/>
          <p:nvPr/>
        </p:nvSpPr>
        <p:spPr>
          <a:xfrm>
            <a:off x="3374136" y="230428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사전 학습 모델로 우울 확률 계산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 </a:t>
            </a:r>
            <a:r>
              <a:rPr lang="en-US" sz="95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MADRS 지수 역산 → 리듬 점수(0~100) 도출</a:t>
            </a:r>
            <a:endParaRPr lang="en-US" sz="950" b="1" dirty="0">
              <a:solidFill>
                <a:srgbClr val="FF0000"/>
              </a:solidFill>
            </a:endParaRPr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1828800"/>
            <a:ext cx="2816352" cy="1353312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1828800"/>
            <a:ext cx="82296" cy="1353312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6318504" y="19202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 err="1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심각도</a:t>
            </a:r>
            <a:r>
              <a:rPr lang="en-US" sz="1100" b="1" dirty="0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분류</a:t>
            </a:r>
            <a:endParaRPr lang="en-US" sz="1100" dirty="0"/>
          </a:p>
        </p:txBody>
      </p:sp>
      <p:sp>
        <p:nvSpPr>
          <p:cNvPr id="21" name="Text 9"/>
          <p:cNvSpPr/>
          <p:nvPr/>
        </p:nvSpPr>
        <p:spPr>
          <a:xfrm>
            <a:off x="6318504" y="230428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안정 / 경도 / 중등도 / 강력 의심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단계별 색상 시각화 및 진단 결과 제공</a:t>
            </a:r>
            <a:endParaRPr lang="en-US" sz="950" b="1" dirty="0">
              <a:solidFill>
                <a:srgbClr val="FF0000"/>
              </a:solidFill>
            </a:endParaRPr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310128"/>
            <a:ext cx="2816352" cy="1353312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310128"/>
            <a:ext cx="82296" cy="1353312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429768" y="34015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맞춤형 행동 미션</a:t>
            </a:r>
            <a:endParaRPr lang="en-US" sz="1100" dirty="0"/>
          </a:p>
        </p:txBody>
      </p:sp>
      <p:sp>
        <p:nvSpPr>
          <p:cNvPr id="25" name="Text 11"/>
          <p:cNvSpPr/>
          <p:nvPr/>
        </p:nvSpPr>
        <p:spPr>
          <a:xfrm>
            <a:off x="429768" y="378561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 err="1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위험</a:t>
            </a:r>
            <a:r>
              <a:rPr lang="en-US" sz="950" dirty="0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수준별 3가지 실천 미션 제시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(명상, 산책, 정리 등 난이도 차등 조절)</a:t>
            </a:r>
            <a:endParaRPr lang="en-US" sz="95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968" y="3310128"/>
            <a:ext cx="2816352" cy="1353312"/>
          </a:xfrm>
          <a:prstGeom prst="rect">
            <a:avLst/>
          </a:prstGeom>
        </p:spPr>
      </p:pic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3310128"/>
            <a:ext cx="82296" cy="1353312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3374136" y="34015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 err="1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마음</a:t>
            </a:r>
            <a:r>
              <a:rPr lang="en-US" sz="11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 err="1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정원</a:t>
            </a:r>
            <a:endParaRPr lang="en-US" sz="1100" dirty="0"/>
          </a:p>
        </p:txBody>
      </p:sp>
      <p:sp>
        <p:nvSpPr>
          <p:cNvPr id="29" name="Text 13"/>
          <p:cNvSpPr/>
          <p:nvPr/>
        </p:nvSpPr>
        <p:spPr>
          <a:xfrm>
            <a:off x="3374136" y="378561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미션 완료 시 꽃이 피는 시각적 피드백</a:t>
            </a:r>
            <a:endParaRPr lang="en-US" sz="950" dirty="0"/>
          </a:p>
          <a:p>
            <a:pPr marL="0" indent="0">
              <a:buNone/>
            </a:pPr>
            <a:r>
              <a:rPr lang="en-US" sz="950" dirty="0" err="1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성취감과</a:t>
            </a:r>
            <a:r>
              <a:rPr lang="en-US" sz="950" dirty="0" smtClean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지속 사용 동기 부여</a:t>
            </a:r>
            <a:endParaRPr lang="en-US" sz="950" dirty="0"/>
          </a:p>
        </p:txBody>
      </p:sp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3310128"/>
            <a:ext cx="2816352" cy="1353312"/>
          </a:xfrm>
          <a:prstGeom prst="rect">
            <a:avLst/>
          </a:prstGeom>
        </p:spPr>
      </p:pic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3310128"/>
            <a:ext cx="82296" cy="1353312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6318504" y="34015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 err="1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데이터</a:t>
            </a:r>
            <a:r>
              <a:rPr lang="en-US" sz="110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ko-KR" altLang="en-US" sz="1100" b="1" dirty="0" err="1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살세</a:t>
            </a:r>
            <a:r>
              <a:rPr lang="ko-KR" altLang="en-US" sz="1100" b="1" dirty="0" smtClean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분석</a:t>
            </a:r>
            <a:endParaRPr lang="en-US" sz="1100" dirty="0"/>
          </a:p>
        </p:txBody>
      </p:sp>
      <p:sp>
        <p:nvSpPr>
          <p:cNvPr id="33" name="Text 15"/>
          <p:cNvSpPr/>
          <p:nvPr/>
        </p:nvSpPr>
        <p:spPr>
          <a:xfrm>
            <a:off x="6318504" y="378561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피처 변환 결과 테이블 제공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추정 MADRS 점수 상세 확인 가능</a:t>
            </a:r>
            <a:endParaRPr lang="en-US" sz="950" b="1" dirty="0">
              <a:solidFill>
                <a:srgbClr val="FF0000"/>
              </a:solidFill>
            </a:endParaRPr>
          </a:p>
        </p:txBody>
      </p:sp>
      <p:sp>
        <p:nvSpPr>
          <p:cNvPr id="34" name="Shape 16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5" name="Text 17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 설명 가능한 AI 기반 활동 데이터 분류 솔루션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716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1168"/>
            <a:ext cx="868680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2336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III-2. 솔루션 설계: 시스템 아키텍처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704088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E6C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III. 솔루션 기반 &gt; 2. 솔루션 설계</a:t>
            </a:r>
            <a:endParaRPr lang="en-US" sz="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04672"/>
            <a:ext cx="8686800" cy="30632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365760" y="3959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🔄 솔루션 아키텍처 — 데이터 / AI 추론 / 솔루션 레이어</a:t>
            </a:r>
            <a:endParaRPr lang="en-US" sz="1200" dirty="0"/>
          </a:p>
        </p:txBody>
      </p:sp>
      <p:sp>
        <p:nvSpPr>
          <p:cNvPr id="12" name="Shape 4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3" name="Text 5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 설명 가능한 AI 기반 활동 데이터 분류 솔루션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1252728"/>
            <a:ext cx="1609344" cy="1898686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" y="1280159"/>
            <a:ext cx="1609344" cy="524637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242316" y="1280159"/>
            <a:ext cx="347472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3"/>
          <p:cNvSpPr/>
          <p:nvPr/>
        </p:nvSpPr>
        <p:spPr>
          <a:xfrm>
            <a:off x="534924" y="1280159"/>
            <a:ext cx="1280160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사용자 입력</a:t>
            </a:r>
            <a:endParaRPr lang="en-US" sz="1100" dirty="0"/>
          </a:p>
        </p:txBody>
      </p:sp>
      <p:sp>
        <p:nvSpPr>
          <p:cNvPr id="18" name="Text 4"/>
          <p:cNvSpPr/>
          <p:nvPr/>
        </p:nvSpPr>
        <p:spPr>
          <a:xfrm>
            <a:off x="333756" y="1719071"/>
            <a:ext cx="1426464" cy="1224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일상 속에서 무기력함이나 </a:t>
            </a:r>
            <a:r>
              <a:rPr lang="ko-KR" altLang="en-US" sz="950" dirty="0" err="1" smtClean="0">
                <a:latin typeface="Arimo" pitchFamily="34" charset="0"/>
                <a:ea typeface="Arimo" pitchFamily="34" charset="-122"/>
                <a:cs typeface="Arimo" pitchFamily="34" charset="-120"/>
              </a:rPr>
              <a:t>우울감을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 느끼는 현대인이 나이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성별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무기력 정도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누워있던 시간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ko-KR" altLang="en-US" sz="950" dirty="0" err="1" smtClean="0">
                <a:latin typeface="Arimo" pitchFamily="34" charset="0"/>
                <a:ea typeface="Arimo" pitchFamily="34" charset="-122"/>
                <a:cs typeface="Arimo" pitchFamily="34" charset="-120"/>
              </a:rPr>
              <a:t>활동패턴</a:t>
            </a:r>
            <a:r>
              <a:rPr lang="en-US" altLang="ko-KR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ko-KR" altLang="en-US" sz="950" dirty="0" err="1" smtClean="0">
                <a:latin typeface="Arimo" pitchFamily="34" charset="0"/>
                <a:ea typeface="Arimo" pitchFamily="34" charset="-122"/>
                <a:cs typeface="Arimo" pitchFamily="34" charset="-120"/>
              </a:rPr>
              <a:t>생활규칙성</a:t>
            </a:r>
            <a:r>
              <a:rPr lang="ko-KR" altLang="en-US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ko-KR" altLang="en-US" sz="95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사용자 데이터 입력</a:t>
            </a:r>
            <a:endParaRPr lang="en-US" sz="950" b="1" dirty="0">
              <a:solidFill>
                <a:srgbClr val="FF0000"/>
              </a:solidFill>
            </a:endParaRPr>
          </a:p>
        </p:txBody>
      </p:sp>
      <p:sp>
        <p:nvSpPr>
          <p:cNvPr id="19" name="Shape 5"/>
          <p:cNvSpPr/>
          <p:nvPr/>
        </p:nvSpPr>
        <p:spPr>
          <a:xfrm>
            <a:off x="1879092" y="1901951"/>
            <a:ext cx="91440" cy="62457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964" y="1280160"/>
            <a:ext cx="1805940" cy="1898686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964" y="1280159"/>
            <a:ext cx="1609344" cy="524637"/>
          </a:xfrm>
          <a:prstGeom prst="rect">
            <a:avLst/>
          </a:prstGeom>
        </p:spPr>
      </p:pic>
      <p:sp>
        <p:nvSpPr>
          <p:cNvPr id="22" name="Text 6"/>
          <p:cNvSpPr/>
          <p:nvPr/>
        </p:nvSpPr>
        <p:spPr>
          <a:xfrm>
            <a:off x="1997964" y="1280159"/>
            <a:ext cx="347472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7"/>
          <p:cNvSpPr/>
          <p:nvPr/>
        </p:nvSpPr>
        <p:spPr>
          <a:xfrm>
            <a:off x="2290572" y="1280159"/>
            <a:ext cx="1280160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위험도 예측</a:t>
            </a:r>
            <a:endParaRPr lang="en-US" sz="1100" dirty="0"/>
          </a:p>
        </p:txBody>
      </p:sp>
      <p:sp>
        <p:nvSpPr>
          <p:cNvPr id="24" name="Text 8"/>
          <p:cNvSpPr/>
          <p:nvPr/>
        </p:nvSpPr>
        <p:spPr>
          <a:xfrm>
            <a:off x="2089404" y="1719071"/>
            <a:ext cx="1426464" cy="1224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000" dirty="0" smtClean="0">
                <a:latin typeface="Arimo" pitchFamily="34" charset="0"/>
              </a:rPr>
              <a:t>사용자 입력 데이터를 </a:t>
            </a:r>
            <a:r>
              <a:rPr lang="ko-KR" altLang="en-US" sz="1000" dirty="0" err="1" smtClean="0">
                <a:latin typeface="Arimo" pitchFamily="34" charset="0"/>
              </a:rPr>
              <a:t>기반으로한</a:t>
            </a:r>
            <a:r>
              <a:rPr lang="ko-KR" altLang="en-US" sz="1000" dirty="0" smtClean="0">
                <a:latin typeface="Arimo" pitchFamily="34" charset="0"/>
              </a:rPr>
              <a:t> </a:t>
            </a:r>
            <a:r>
              <a:rPr lang="ko-KR" altLang="en-US" sz="1000" b="1" dirty="0" smtClean="0">
                <a:solidFill>
                  <a:srgbClr val="FF0000"/>
                </a:solidFill>
                <a:latin typeface="Arimo" pitchFamily="34" charset="0"/>
              </a:rPr>
              <a:t>위험도 예측</a:t>
            </a:r>
            <a:endParaRPr lang="en-US" sz="950" b="1" dirty="0">
              <a:solidFill>
                <a:srgbClr val="FF0000"/>
              </a:solidFill>
            </a:endParaRPr>
          </a:p>
        </p:txBody>
      </p:sp>
      <p:sp>
        <p:nvSpPr>
          <p:cNvPr id="25" name="Shape 9"/>
          <p:cNvSpPr/>
          <p:nvPr/>
        </p:nvSpPr>
        <p:spPr>
          <a:xfrm>
            <a:off x="3634740" y="1901951"/>
            <a:ext cx="91440" cy="62457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3612" y="1280160"/>
            <a:ext cx="1609344" cy="1898686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612" y="1280159"/>
            <a:ext cx="1609344" cy="524637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3753612" y="1280159"/>
            <a:ext cx="347472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11"/>
          <p:cNvSpPr/>
          <p:nvPr/>
        </p:nvSpPr>
        <p:spPr>
          <a:xfrm>
            <a:off x="4046220" y="1280159"/>
            <a:ext cx="1280160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점수 분류</a:t>
            </a:r>
            <a:endParaRPr lang="en-US" sz="1100" dirty="0"/>
          </a:p>
        </p:txBody>
      </p:sp>
      <p:sp>
        <p:nvSpPr>
          <p:cNvPr id="30" name="Text 12"/>
          <p:cNvSpPr/>
          <p:nvPr/>
        </p:nvSpPr>
        <p:spPr>
          <a:xfrm>
            <a:off x="3845052" y="1719071"/>
            <a:ext cx="1426464" cy="1224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950" dirty="0" smtClean="0"/>
              <a:t>안정</a:t>
            </a:r>
            <a:r>
              <a:rPr lang="en-US" altLang="ko-KR" sz="950" dirty="0" smtClean="0"/>
              <a:t>, </a:t>
            </a:r>
            <a:r>
              <a:rPr lang="ko-KR" altLang="en-US" sz="950" dirty="0" smtClean="0"/>
              <a:t>경도</a:t>
            </a:r>
            <a:r>
              <a:rPr lang="en-US" altLang="ko-KR" sz="950" dirty="0" smtClean="0"/>
              <a:t>, </a:t>
            </a:r>
            <a:r>
              <a:rPr lang="ko-KR" altLang="en-US" sz="950" dirty="0" smtClean="0"/>
              <a:t>중증도</a:t>
            </a:r>
            <a:r>
              <a:rPr lang="en-US" altLang="ko-KR" sz="950" dirty="0" smtClean="0"/>
              <a:t>, </a:t>
            </a:r>
            <a:r>
              <a:rPr lang="ko-KR" altLang="en-US" sz="950" dirty="0" smtClean="0"/>
              <a:t>심각의 우울증 심각도 시각화 및 </a:t>
            </a:r>
            <a:r>
              <a:rPr lang="ko-KR" altLang="en-US" sz="950" dirty="0" err="1" smtClean="0"/>
              <a:t>라벨링</a:t>
            </a:r>
            <a:endParaRPr lang="en-US" sz="950" dirty="0"/>
          </a:p>
        </p:txBody>
      </p:sp>
      <p:sp>
        <p:nvSpPr>
          <p:cNvPr id="31" name="Shape 13"/>
          <p:cNvSpPr/>
          <p:nvPr/>
        </p:nvSpPr>
        <p:spPr>
          <a:xfrm>
            <a:off x="5390388" y="1901951"/>
            <a:ext cx="91440" cy="62457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9260" y="1280160"/>
            <a:ext cx="1609344" cy="189868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260" y="1280159"/>
            <a:ext cx="1609344" cy="524637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>
            <a:off x="5509260" y="1280159"/>
            <a:ext cx="347472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15"/>
          <p:cNvSpPr/>
          <p:nvPr/>
        </p:nvSpPr>
        <p:spPr>
          <a:xfrm>
            <a:off x="5801868" y="1280159"/>
            <a:ext cx="1280160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맞춤형 미션</a:t>
            </a:r>
            <a:endParaRPr lang="en-US" sz="1100" dirty="0"/>
          </a:p>
        </p:txBody>
      </p:sp>
      <p:sp>
        <p:nvSpPr>
          <p:cNvPr id="36" name="Text 16"/>
          <p:cNvSpPr/>
          <p:nvPr/>
        </p:nvSpPr>
        <p:spPr>
          <a:xfrm>
            <a:off x="5600700" y="1719071"/>
            <a:ext cx="1426464" cy="1224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90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우울증 심각도 구간에 따른 미션과 미션 성공에 따른 시각화  </a:t>
            </a:r>
            <a:endParaRPr lang="en-US" sz="950" dirty="0"/>
          </a:p>
        </p:txBody>
      </p:sp>
      <p:sp>
        <p:nvSpPr>
          <p:cNvPr id="37" name="Shape 17"/>
          <p:cNvSpPr/>
          <p:nvPr/>
        </p:nvSpPr>
        <p:spPr>
          <a:xfrm>
            <a:off x="7146036" y="1901951"/>
            <a:ext cx="91440" cy="62457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908" y="1280160"/>
            <a:ext cx="1609344" cy="1898686"/>
          </a:xfrm>
          <a:prstGeom prst="rect">
            <a:avLst/>
          </a:prstGeom>
        </p:spPr>
      </p:pic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908" y="1280159"/>
            <a:ext cx="1609344" cy="524637"/>
          </a:xfrm>
          <a:prstGeom prst="rect">
            <a:avLst/>
          </a:prstGeom>
        </p:spPr>
      </p:pic>
      <p:sp>
        <p:nvSpPr>
          <p:cNvPr id="40" name="Text 18"/>
          <p:cNvSpPr/>
          <p:nvPr/>
        </p:nvSpPr>
        <p:spPr>
          <a:xfrm>
            <a:off x="7264908" y="1280159"/>
            <a:ext cx="347472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19"/>
          <p:cNvSpPr/>
          <p:nvPr/>
        </p:nvSpPr>
        <p:spPr>
          <a:xfrm>
            <a:off x="7557516" y="1280159"/>
            <a:ext cx="1280160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 smtClean="0">
                <a:solidFill>
                  <a:schemeClr val="bg1"/>
                </a:solidFill>
              </a:rPr>
              <a:t>상세 분석</a:t>
            </a:r>
            <a:endParaRPr lang="en-US" sz="1100" b="1" dirty="0">
              <a:solidFill>
                <a:schemeClr val="bg1"/>
              </a:solidFill>
              <a:ea typeface="Arimo"/>
            </a:endParaRPr>
          </a:p>
        </p:txBody>
      </p:sp>
      <p:sp>
        <p:nvSpPr>
          <p:cNvPr id="42" name="Text 20"/>
          <p:cNvSpPr/>
          <p:nvPr/>
        </p:nvSpPr>
        <p:spPr>
          <a:xfrm>
            <a:off x="7356348" y="1719071"/>
            <a:ext cx="1426464" cy="1224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950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사용자 입력 데이터 기반을 모델 학습 데이터와 연동시켜 </a:t>
            </a:r>
            <a:r>
              <a:rPr lang="ko-KR" altLang="en-US" sz="950" b="1" dirty="0" smtClean="0">
                <a:solidFill>
                  <a:srgbClr val="FF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위험도 원인 요인 결과 출력</a:t>
            </a:r>
            <a:endParaRPr lang="en-US" sz="9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868680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2336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III-3. 솔루션 시연: 화면 레이아웃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704088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E6C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III. 솔루션 기반 &gt; 3. 솔루션 시연</a:t>
            </a:r>
            <a:endParaRPr lang="en-US" sz="850" dirty="0"/>
          </a:p>
        </p:txBody>
      </p:sp>
      <p:sp>
        <p:nvSpPr>
          <p:cNvPr id="8" name="Text 2"/>
          <p:cNvSpPr/>
          <p:nvPr/>
        </p:nvSpPr>
        <p:spPr>
          <a:xfrm>
            <a:off x="320040" y="81381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👤 내 정보 입력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2807208" y="4828032"/>
            <a:ext cx="30175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🏠 홈 화면</a:t>
            </a:r>
            <a:endParaRPr lang="en-US" sz="800" dirty="0"/>
          </a:p>
        </p:txBody>
      </p:sp>
      <p:sp>
        <p:nvSpPr>
          <p:cNvPr id="46" name="Text 36"/>
          <p:cNvSpPr/>
          <p:nvPr/>
        </p:nvSpPr>
        <p:spPr>
          <a:xfrm>
            <a:off x="5897880" y="4828032"/>
            <a:ext cx="30175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📊 상세 분석</a:t>
            </a:r>
            <a:endParaRPr lang="en-US" sz="800" dirty="0"/>
          </a:p>
        </p:txBody>
      </p:sp>
      <p:sp>
        <p:nvSpPr>
          <p:cNvPr id="47" name="Shape 37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 설명 가능한 AI 기반 활동 데이터 분류 솔루션</a:t>
            </a:r>
            <a:endParaRPr lang="en-US" sz="750" dirty="0"/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88" y="681677"/>
            <a:ext cx="7439660" cy="4201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868680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2336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IV. 코드 리뷰: </a:t>
            </a:r>
            <a:r>
              <a:rPr lang="en-US" sz="1700" b="1" dirty="0" err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개발</a:t>
            </a: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700" b="1" dirty="0" err="1" smtClean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환경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704088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E6C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IV. 코드 리뷰</a:t>
            </a:r>
            <a:endParaRPr lang="en-US" sz="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990" y="1700784"/>
            <a:ext cx="2816352" cy="171907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990" y="1700784"/>
            <a:ext cx="2816352" cy="402336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430" y="1764792"/>
            <a:ext cx="329184" cy="27432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919478" y="170992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언어 / 프레임워크</a:t>
            </a:r>
            <a:endParaRPr lang="en-US" sz="1100" dirty="0"/>
          </a:p>
        </p:txBody>
      </p:sp>
      <p:sp>
        <p:nvSpPr>
          <p:cNvPr id="10" name="Shape 3"/>
          <p:cNvSpPr/>
          <p:nvPr/>
        </p:nvSpPr>
        <p:spPr>
          <a:xfrm>
            <a:off x="1645158" y="2212848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1846326" y="21579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 3.10+</a:t>
            </a:r>
            <a:endParaRPr lang="en-US" sz="1050" dirty="0"/>
          </a:p>
        </p:txBody>
      </p:sp>
      <p:sp>
        <p:nvSpPr>
          <p:cNvPr id="12" name="Shape 5"/>
          <p:cNvSpPr/>
          <p:nvPr/>
        </p:nvSpPr>
        <p:spPr>
          <a:xfrm>
            <a:off x="1645158" y="2596896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1846326" y="2542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Streamlit 1.x</a:t>
            </a:r>
            <a:endParaRPr lang="en-US" sz="1050" dirty="0"/>
          </a:p>
        </p:txBody>
      </p:sp>
      <p:sp>
        <p:nvSpPr>
          <p:cNvPr id="14" name="Shape 7"/>
          <p:cNvSpPr/>
          <p:nvPr/>
        </p:nvSpPr>
        <p:spPr>
          <a:xfrm>
            <a:off x="1645158" y="2980944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1846326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Plotly Express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790" y="1700784"/>
            <a:ext cx="2816352" cy="1719072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790" y="1700784"/>
            <a:ext cx="2816352" cy="402336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230" y="1764792"/>
            <a:ext cx="329184" cy="27432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891278" y="170992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머신러닝 라이브러리</a:t>
            </a:r>
            <a:endParaRPr lang="en-US" sz="1100" dirty="0"/>
          </a:p>
        </p:txBody>
      </p:sp>
      <p:sp>
        <p:nvSpPr>
          <p:cNvPr id="20" name="Shape 10"/>
          <p:cNvSpPr/>
          <p:nvPr/>
        </p:nvSpPr>
        <p:spPr>
          <a:xfrm>
            <a:off x="4616958" y="2212848"/>
            <a:ext cx="118872" cy="11887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4818126" y="21579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22" name="Shape 12"/>
          <p:cNvSpPr/>
          <p:nvPr/>
        </p:nvSpPr>
        <p:spPr>
          <a:xfrm>
            <a:off x="4616958" y="2596896"/>
            <a:ext cx="118872" cy="11887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3" name="Text 13"/>
          <p:cNvSpPr/>
          <p:nvPr/>
        </p:nvSpPr>
        <p:spPr>
          <a:xfrm>
            <a:off x="4818126" y="2542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XGBoost / RandomForest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4616958" y="2980944"/>
            <a:ext cx="118872" cy="11887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4818126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joblib (모델 직렬화)</a:t>
            </a:r>
            <a:endParaRPr lang="en-US" sz="1050" dirty="0"/>
          </a:p>
        </p:txBody>
      </p:sp>
      <p:sp>
        <p:nvSpPr>
          <p:cNvPr id="29" name="Text 16"/>
          <p:cNvSpPr/>
          <p:nvPr/>
        </p:nvSpPr>
        <p:spPr>
          <a:xfrm>
            <a:off x="6647688" y="81381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배포 / 공유</a:t>
            </a:r>
            <a:endParaRPr lang="en-US" sz="1100" dirty="0"/>
          </a:p>
        </p:txBody>
      </p:sp>
      <p:sp>
        <p:nvSpPr>
          <p:cNvPr id="48" name="Shape 3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9" name="Text 34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 설명 가능한 AI 기반 활동 데이터 분류 솔루션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581403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748424" y="2110085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감사합니다</a:t>
            </a:r>
            <a:endParaRPr lang="en-US" altLang="ko-K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008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1168"/>
            <a:ext cx="868680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2336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II-2. 방법론: Feature Engineering (피처 10종)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704088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E6C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II. 논문 기반 &gt; 2. 방법론</a:t>
            </a:r>
            <a:endParaRPr lang="en-US" sz="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04672"/>
            <a:ext cx="8686800" cy="310896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804672"/>
            <a:ext cx="8686800" cy="40233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65760" y="81381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📐 추출된 주요 피처 (10종) — 논문 기반 설계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8595360" cy="28346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피처 그룹</a:t>
                      </a:r>
                      <a:endParaRPr lang="en-US" sz="10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8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피처명</a:t>
                      </a:r>
                      <a:endParaRPr lang="en-US" sz="10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8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설명</a:t>
                      </a:r>
                      <a:endParaRPr lang="en-US" sz="10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8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우울증과의 연관성</a:t>
                      </a:r>
                      <a:endParaRPr lang="en-US" sz="10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8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활동량 통계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mean_act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평균 활동량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우울 시 유의미하게 감소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활동량 통계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std_act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활동 표준편차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활동 변동성 저하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활동량 통계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cv_act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변동계수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활동 일관성 지표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수면 패턴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zero_ratio ⭐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무활동 비율 (핵심)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SHAP 1위 예측 피처 — 우울 시 급증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수면 패턴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autocorr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활동 자기상관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리듬 규칙성 반영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PSD 특징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psd_mean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주파수 도메인 에너지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수면 패턴 변화 포착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PSD 특징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skew / kurt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왜도 / 첨도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활동 분포 비대칭성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인구통계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age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나이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연령별 위험 계층화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인구통계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gender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성별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성별 활동 패턴 차이 반영</a:t>
                      </a:r>
                      <a:endParaRPr lang="en-US" sz="9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005072"/>
            <a:ext cx="8686800" cy="685800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005072"/>
            <a:ext cx="82296" cy="6858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411480" y="4069080"/>
            <a:ext cx="8366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⭐ zero_ratio (무활동 비율)는 SHAP 분석 결과 가장 강력한 예측 피처로 확인 — 우울증 시 깨어있는 동안 침대/소파에 누워있는 시간이 급증하는 행동 패턴을 포착</a:t>
            </a:r>
            <a:endParaRPr lang="en-US" sz="1050" dirty="0"/>
          </a:p>
        </p:txBody>
      </p:sp>
      <p:sp>
        <p:nvSpPr>
          <p:cNvPr id="13" name="Shape 4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4" name="Text 5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D6E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우울증 진단 및 심각도 평가를 위한 설명 가능한 AI 기반 활동 데이터 분류 솔루션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1876</Words>
  <Application>Microsoft Office PowerPoint</Application>
  <PresentationFormat>화면 슬라이드 쇼(16:9)</PresentationFormat>
  <Paragraphs>389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Arimo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우울증 진단 및 심각도 평가를 위한 설명 가능한 AI 활동 데이터 기반 분류 솔루션</dc:title>
  <dc:subject>PptxGenJS Presentation</dc:subject>
  <dc:creator>PptxGenJS</dc:creator>
  <cp:lastModifiedBy>asia</cp:lastModifiedBy>
  <cp:revision>33</cp:revision>
  <dcterms:created xsi:type="dcterms:W3CDTF">2026-02-19T08:42:06Z</dcterms:created>
  <dcterms:modified xsi:type="dcterms:W3CDTF">2026-02-20T08:22:34Z</dcterms:modified>
</cp:coreProperties>
</file>